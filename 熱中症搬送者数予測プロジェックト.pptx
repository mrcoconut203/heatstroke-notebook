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17"/>
  </p:notesMasterIdLst>
  <p:sldIdLst>
    <p:sldId id="256" r:id="rId3"/>
    <p:sldId id="257" r:id="rId4"/>
    <p:sldId id="258" r:id="rId5"/>
    <p:sldId id="259" r:id="rId6"/>
    <p:sldId id="263" r:id="rId7"/>
    <p:sldId id="260" r:id="rId8"/>
    <p:sldId id="261" r:id="rId9"/>
    <p:sldId id="262" r:id="rId10"/>
    <p:sldId id="264" r:id="rId11"/>
    <p:sldId id="267" r:id="rId12"/>
    <p:sldId id="273" r:id="rId13"/>
    <p:sldId id="268" r:id="rId14"/>
    <p:sldId id="269" r:id="rId15"/>
    <p:sldId id="272" r:id="rId16"/>
  </p:sldIdLst>
  <p:sldSz cx="18288000" cy="10287000"/>
  <p:notesSz cx="6858000" cy="9144000"/>
  <p:embeddedFontLst>
    <p:embeddedFont>
      <p:font typeface="BIZ UDPゴシック" panose="020B0400000000000000" pitchFamily="50" charset="-128"/>
      <p:regular r:id="rId18"/>
      <p:bold r:id="rId19"/>
    </p:embeddedFont>
    <p:embeddedFont>
      <p:font typeface="BIZ UDゴシック" panose="020B0400000000000000" pitchFamily="49" charset="-128"/>
      <p:regular r:id="rId20"/>
      <p:bold r:id="rId21"/>
    </p:embeddedFont>
    <p:embeddedFont>
      <p:font typeface="Noto Sans" panose="020B0502040504020204" pitchFamily="34" charset="0"/>
      <p:regular r:id="rId22"/>
      <p:bold r:id="rId23"/>
      <p:italic r:id="rId24"/>
      <p:boldItalic r:id="rId25"/>
    </p:embeddedFont>
    <p:embeddedFont>
      <p:font typeface="游ゴシック" panose="020B0400000000000000" pitchFamily="50" charset="-128"/>
      <p:regular r:id="rId26"/>
      <p:bold r:id="rId27"/>
    </p:embeddedFont>
    <p:embeddedFont>
      <p:font typeface="游ゴシック Light" panose="020B0300000000000000" pitchFamily="50" charset="-128"/>
      <p:regular r:id="rId28"/>
    </p:embeddedFont>
  </p:embeddedFont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78" autoAdjust="0"/>
    <p:restoredTop sz="94660"/>
  </p:normalViewPr>
  <p:slideViewPr>
    <p:cSldViewPr>
      <p:cViewPr varScale="1">
        <p:scale>
          <a:sx n="31" d="100"/>
          <a:sy n="31" d="100"/>
        </p:scale>
        <p:origin x="34" y="1018"/>
      </p:cViewPr>
      <p:guideLst>
        <p:guide orient="horz" pos="2160"/>
        <p:guide pos="2880"/>
      </p:guideLst>
    </p:cSldViewPr>
  </p:slideViewPr>
  <p:notesTextViewPr>
    <p:cViewPr>
      <p:scale>
        <a:sx n="1" d="1"/>
        <a:sy n="1" d="1"/>
      </p:scale>
      <p:origin x="0" y="0"/>
    </p:cViewPr>
  </p:notesTextViewPr>
  <p:sorterViewPr>
    <p:cViewPr>
      <p:scale>
        <a:sx n="100" d="100"/>
        <a:sy n="100" d="100"/>
      </p:scale>
      <p:origin x="0" y="-937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0" i="0" u="none" strike="noStrike" kern="1200" cap="none" spc="0" normalizeH="0" baseline="0">
                <a:solidFill>
                  <a:schemeClr val="tx1"/>
                </a:solidFill>
                <a:latin typeface="+mj-lt"/>
                <a:ea typeface="+mj-ea"/>
                <a:cs typeface="+mj-cs"/>
              </a:defRPr>
            </a:pPr>
            <a:r>
              <a:rPr lang="ja-JP" sz="3200" baseline="0">
                <a:solidFill>
                  <a:schemeClr val="tx1"/>
                </a:solidFill>
              </a:rPr>
              <a:t>予測の平均的なズレはこの程度</a:t>
            </a:r>
          </a:p>
        </c:rich>
      </c:tx>
      <c:overlay val="0"/>
      <c:spPr>
        <a:noFill/>
        <a:ln>
          <a:noFill/>
        </a:ln>
        <a:effectLst/>
      </c:spPr>
      <c:txPr>
        <a:bodyPr rot="0" spcFirstLastPara="1" vertOverflow="ellipsis" vert="horz" wrap="square" anchor="ctr" anchorCtr="1"/>
        <a:lstStyle/>
        <a:p>
          <a:pPr>
            <a:defRPr sz="3200" b="0" i="0" u="none" strike="noStrike" kern="1200" cap="none" spc="0" normalizeH="0" baseline="0">
              <a:solidFill>
                <a:schemeClr val="tx1"/>
              </a:solidFill>
              <a:latin typeface="+mj-lt"/>
              <a:ea typeface="+mj-ea"/>
              <a:cs typeface="+mj-cs"/>
            </a:defRPr>
          </a:pPr>
          <a:endParaRPr lang="ja-JP"/>
        </a:p>
      </c:txPr>
    </c:title>
    <c:autoTitleDeleted val="0"/>
    <c:plotArea>
      <c:layout>
        <c:manualLayout>
          <c:layoutTarget val="inner"/>
          <c:xMode val="edge"/>
          <c:yMode val="edge"/>
          <c:x val="3.6579196257184261E-2"/>
          <c:y val="9.8289124015748033E-2"/>
          <c:w val="0.94209884212234662"/>
          <c:h val="0.73377608267716532"/>
        </c:manualLayout>
      </c:layout>
      <c:barChart>
        <c:barDir val="col"/>
        <c:grouping val="clustered"/>
        <c:varyColors val="0"/>
        <c:ser>
          <c:idx val="0"/>
          <c:order val="0"/>
          <c:tx>
            <c:strRef>
              <c:f>Sheet1!$B$1</c:f>
              <c:strCache>
                <c:ptCount val="1"/>
                <c:pt idx="0">
                  <c:v>予測の平均的なズレはこの程度</c:v>
                </c:pt>
              </c:strCache>
            </c:strRef>
          </c:tx>
          <c:spPr>
            <a:solidFill>
              <a:schemeClr val="accent1"/>
            </a:solidFill>
            <a:ln>
              <a:noFill/>
            </a:ln>
            <a:effectLst/>
          </c:spPr>
          <c:invertIfNegative val="0"/>
          <c:dPt>
            <c:idx val="1"/>
            <c:invertIfNegative val="0"/>
            <c:bubble3D val="0"/>
            <c:spPr>
              <a:solidFill>
                <a:schemeClr val="accent1"/>
              </a:solidFill>
              <a:ln cap="flat">
                <a:solidFill>
                  <a:schemeClr val="accent1"/>
                </a:solidFill>
              </a:ln>
              <a:effectLst/>
            </c:spPr>
            <c:extLst>
              <c:ext xmlns:c16="http://schemas.microsoft.com/office/drawing/2014/chart" uri="{C3380CC4-5D6E-409C-BE32-E72D297353CC}">
                <c16:uniqueId val="{00000003-F13F-4132-AD95-1ABCF7A0A8CE}"/>
              </c:ext>
            </c:extLst>
          </c:dPt>
          <c:cat>
            <c:strRef>
              <c:f>Sheet1!$A$2:$A$3</c:f>
              <c:strCache>
                <c:ptCount val="2"/>
                <c:pt idx="0">
                  <c:v>平均絶対誤差 (MAE)</c:v>
                </c:pt>
                <c:pt idx="1">
                  <c:v>二乗平均平方根誤差 (RMSE)</c:v>
                </c:pt>
              </c:strCache>
            </c:strRef>
          </c:cat>
          <c:val>
            <c:numRef>
              <c:f>Sheet1!$B$2:$B$3</c:f>
              <c:numCache>
                <c:formatCode>General</c:formatCode>
                <c:ptCount val="2"/>
                <c:pt idx="0">
                  <c:v>21.34</c:v>
                </c:pt>
                <c:pt idx="1">
                  <c:v>36.69</c:v>
                </c:pt>
              </c:numCache>
            </c:numRef>
          </c:val>
          <c:extLst>
            <c:ext xmlns:c16="http://schemas.microsoft.com/office/drawing/2014/chart" uri="{C3380CC4-5D6E-409C-BE32-E72D297353CC}">
              <c16:uniqueId val="{00000000-F13F-4132-AD95-1ABCF7A0A8CE}"/>
            </c:ext>
          </c:extLst>
        </c:ser>
        <c:dLbls>
          <c:showLegendKey val="0"/>
          <c:showVal val="0"/>
          <c:showCatName val="0"/>
          <c:showSerName val="0"/>
          <c:showPercent val="0"/>
          <c:showBubbleSize val="0"/>
        </c:dLbls>
        <c:gapWidth val="199"/>
        <c:axId val="1980506192"/>
        <c:axId val="1973181072"/>
      </c:barChart>
      <c:catAx>
        <c:axId val="1980506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200" b="0" i="0" u="none" strike="noStrike" kern="1200" cap="none" spc="0" normalizeH="0" baseline="0">
                <a:solidFill>
                  <a:schemeClr val="tx1"/>
                </a:solidFill>
                <a:latin typeface="+mn-lt"/>
                <a:ea typeface="+mn-ea"/>
                <a:cs typeface="+mn-cs"/>
              </a:defRPr>
            </a:pPr>
            <a:endParaRPr lang="ja-JP"/>
          </a:p>
        </c:txPr>
        <c:crossAx val="1973181072"/>
        <c:crosses val="autoZero"/>
        <c:auto val="1"/>
        <c:lblAlgn val="ctr"/>
        <c:lblOffset val="100"/>
        <c:noMultiLvlLbl val="0"/>
      </c:catAx>
      <c:valAx>
        <c:axId val="197318107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900" b="0" i="0" u="none" strike="noStrike" kern="1200" baseline="0">
                <a:solidFill>
                  <a:schemeClr val="tx1">
                    <a:lumMod val="65000"/>
                    <a:lumOff val="35000"/>
                  </a:schemeClr>
                </a:solidFill>
                <a:latin typeface="+mn-lt"/>
                <a:ea typeface="+mn-ea"/>
                <a:cs typeface="+mn-cs"/>
              </a:defRPr>
            </a:pPr>
            <a:endParaRPr lang="ja-JP"/>
          </a:p>
        </c:txPr>
        <c:crossAx val="19805061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674365704286964E-2"/>
          <c:y val="3.3536898004028565E-2"/>
          <c:w val="0.90277007874015747"/>
          <c:h val="0.95230604895318316"/>
        </c:manualLayout>
      </c:layout>
      <c:barChart>
        <c:barDir val="col"/>
        <c:grouping val="clustered"/>
        <c:varyColors val="0"/>
        <c:ser>
          <c:idx val="0"/>
          <c:order val="0"/>
          <c:tx>
            <c:strRef>
              <c:f>Sheet1!$B$1</c:f>
              <c:strCache>
                <c:ptCount val="1"/>
                <c:pt idx="0">
                  <c:v>1に近いほど優秀 / データの約68%を説明できている</c:v>
                </c:pt>
              </c:strCache>
            </c:strRef>
          </c:tx>
          <c:spPr>
            <a:solidFill>
              <a:schemeClr val="accent1"/>
            </a:solidFill>
            <a:ln>
              <a:noFill/>
            </a:ln>
            <a:effectLst/>
          </c:spPr>
          <c:invertIfNegative val="0"/>
          <c:cat>
            <c:strRef>
              <c:f>Sheet1!$A$2</c:f>
              <c:strCache>
                <c:ptCount val="1"/>
                <c:pt idx="0">
                  <c:v>決定係数 (R-squared)</c:v>
                </c:pt>
              </c:strCache>
            </c:strRef>
          </c:cat>
          <c:val>
            <c:numRef>
              <c:f>Sheet1!$B$2</c:f>
              <c:numCache>
                <c:formatCode>General</c:formatCode>
                <c:ptCount val="1"/>
                <c:pt idx="0">
                  <c:v>0.68279999999999996</c:v>
                </c:pt>
              </c:numCache>
            </c:numRef>
          </c:val>
          <c:extLst>
            <c:ext xmlns:c16="http://schemas.microsoft.com/office/drawing/2014/chart" uri="{C3380CC4-5D6E-409C-BE32-E72D297353CC}">
              <c16:uniqueId val="{00000000-F666-4794-91C9-6DB895151290}"/>
            </c:ext>
          </c:extLst>
        </c:ser>
        <c:dLbls>
          <c:showLegendKey val="0"/>
          <c:showVal val="0"/>
          <c:showCatName val="0"/>
          <c:showSerName val="0"/>
          <c:showPercent val="0"/>
          <c:showBubbleSize val="0"/>
        </c:dLbls>
        <c:gapWidth val="219"/>
        <c:overlap val="-27"/>
        <c:axId val="971695616"/>
        <c:axId val="971697536"/>
      </c:barChart>
      <c:catAx>
        <c:axId val="971695616"/>
        <c:scaling>
          <c:orientation val="minMax"/>
        </c:scaling>
        <c:delete val="1"/>
        <c:axPos val="b"/>
        <c:numFmt formatCode="General" sourceLinked="1"/>
        <c:majorTickMark val="none"/>
        <c:minorTickMark val="none"/>
        <c:tickLblPos val="nextTo"/>
        <c:crossAx val="971697536"/>
        <c:crosses val="autoZero"/>
        <c:auto val="1"/>
        <c:lblAlgn val="ctr"/>
        <c:lblOffset val="100"/>
        <c:noMultiLvlLbl val="0"/>
      </c:catAx>
      <c:valAx>
        <c:axId val="971697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900" b="0" i="0" u="none" strike="noStrike" kern="1200" baseline="0">
                <a:solidFill>
                  <a:schemeClr val="tx1">
                    <a:lumMod val="65000"/>
                    <a:lumOff val="35000"/>
                  </a:schemeClr>
                </a:solidFill>
                <a:latin typeface="+mn-lt"/>
                <a:ea typeface="+mn-ea"/>
                <a:cs typeface="+mn-cs"/>
              </a:defRPr>
            </a:pPr>
            <a:endParaRPr lang="ja-JP"/>
          </a:p>
        </c:txPr>
        <c:crossAx val="9716956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0.6823</cdr:x>
      <cdr:y>0.44844</cdr:y>
    </cdr:from>
    <cdr:to>
      <cdr:x>0.85392</cdr:x>
      <cdr:y>0.55156</cdr:y>
    </cdr:to>
    <cdr:sp macro="" textlink="">
      <cdr:nvSpPr>
        <cdr:cNvPr id="2" name="テキスト ボックス 1">
          <a:extLst xmlns:a="http://schemas.openxmlformats.org/drawingml/2006/main">
            <a:ext uri="{FF2B5EF4-FFF2-40B4-BE49-F238E27FC236}">
              <a16:creationId xmlns:a16="http://schemas.microsoft.com/office/drawing/2014/main" id="{D24F99BA-BFF4-7EA4-0043-B1B2C751A85B}"/>
            </a:ext>
          </a:extLst>
        </cdr:cNvPr>
        <cdr:cNvSpPr txBox="1"/>
      </cdr:nvSpPr>
      <cdr:spPr>
        <a:xfrm xmlns:a="http://schemas.openxmlformats.org/drawingml/2006/main">
          <a:off x="6096000" y="3644900"/>
          <a:ext cx="1533293" cy="838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ltLang="ja-JP" sz="3200" dirty="0">
              <a:solidFill>
                <a:schemeClr val="bg1"/>
              </a:solidFill>
            </a:rPr>
            <a:t>36.69</a:t>
          </a:r>
          <a:endParaRPr lang="ja-JP" altLang="en-US" sz="3200" dirty="0">
            <a:solidFill>
              <a:schemeClr val="bg1"/>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dirty="0"/>
              <a:t>こんにちは。ディン・ティエン・クオンと申します。本日は「熱中症搬送者数予測プロジェクト」を紹介します。よろしくお願いします。</a:t>
            </a:r>
          </a:p>
          <a:p>
            <a:pPr>
              <a:defRPr/>
            </a:pPr>
            <a:endParaRPr dirty="0"/>
          </a:p>
        </p:txBody>
      </p:sp>
      <p:sp>
        <p:nvSpPr>
          <p:cNvPr id="4" name="Slide Number Placeholder 3"/>
          <p:cNvSpPr>
            <a:spLocks noGrp="1"/>
          </p:cNvSpPr>
          <p:nvPr>
            <p:ph type="sldNum" sz="quarter" idx="10"/>
          </p:nvPr>
        </p:nvSpPr>
        <p:spPr bwMode="auto"/>
        <p:txBody>
          <a:bodyPr/>
          <a:lstStyle/>
          <a:p>
            <a:pPr>
              <a:defRPr/>
            </a:pPr>
            <a:fld id="{46930632-DA14-B65B-FC9A-CB65F549FE66}"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ja-JP" altLang="en-US" dirty="0"/>
              <a:t>近年、熱中症による搬送が増え、救急体制の負担が大きくなっています。予測は対応の効率化に役立ちます</a:t>
            </a:r>
            <a:endParaRPr dirty="0"/>
          </a:p>
        </p:txBody>
      </p:sp>
      <p:sp>
        <p:nvSpPr>
          <p:cNvPr id="4" name="Slide Number Placeholder 3"/>
          <p:cNvSpPr>
            <a:spLocks noGrp="1"/>
          </p:cNvSpPr>
          <p:nvPr>
            <p:ph type="sldNum" sz="quarter" idx="10"/>
          </p:nvPr>
        </p:nvSpPr>
        <p:spPr bwMode="auto"/>
        <p:txBody>
          <a:bodyPr/>
          <a:lstStyle/>
          <a:p>
            <a:pPr>
              <a:defRPr/>
            </a:pPr>
            <a:fld id="{FE2089B2-99D0-F853-376B-1BC0F5B21904}"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ja-JP" altLang="en-US" dirty="0"/>
              <a:t>本プロジェクトのゴールは、実用レベルの予測モデルを作り、現場で使える形にすることです</a:t>
            </a:r>
            <a:endParaRPr dirty="0"/>
          </a:p>
        </p:txBody>
      </p:sp>
      <p:sp>
        <p:nvSpPr>
          <p:cNvPr id="4" name="Slide Number Placeholder 3"/>
          <p:cNvSpPr>
            <a:spLocks noGrp="1"/>
          </p:cNvSpPr>
          <p:nvPr>
            <p:ph type="sldNum" sz="quarter" idx="10"/>
          </p:nvPr>
        </p:nvSpPr>
        <p:spPr bwMode="auto"/>
        <p:txBody>
          <a:bodyPr/>
          <a:lstStyle/>
          <a:p>
            <a:pPr>
              <a:defRPr/>
            </a:pPr>
            <a:fld id="{3677AE05-4BE6-3650-9E77-5AA6EEDEF969}"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C8C43F6-F816-C3F0-CC6F-5EC93EFE4E95}"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ja-JP" altLang="en-US" dirty="0"/>
              <a:t>本研究における使用したデータ</a:t>
            </a:r>
            <a:endParaRPr dirty="0"/>
          </a:p>
        </p:txBody>
      </p:sp>
      <p:sp>
        <p:nvSpPr>
          <p:cNvPr id="4" name="Slide Number Placeholder 3"/>
          <p:cNvSpPr>
            <a:spLocks noGrp="1"/>
          </p:cNvSpPr>
          <p:nvPr>
            <p:ph type="sldNum" sz="quarter" idx="10"/>
          </p:nvPr>
        </p:nvSpPr>
        <p:spPr bwMode="auto"/>
        <p:txBody>
          <a:bodyPr/>
          <a:lstStyle/>
          <a:p>
            <a:pPr>
              <a:defRPr/>
            </a:pPr>
            <a:fld id="{CDCF5543-9794-8A36-07EE-6271FA1D2871}"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r>
              <a:rPr lang="ja-JP" altLang="en-US" dirty="0"/>
              <a:t>図は搬送数の時系列です。夏に明確なピークがあるのが分かります</a:t>
            </a:r>
            <a:endParaRPr lang="vi-VN" altLang="ja-JP" dirty="0"/>
          </a:p>
          <a:p>
            <a:pPr>
              <a:buFont typeface="Arial" panose="020B0604020202020204" pitchFamily="34" charset="0"/>
              <a:buChar char="•"/>
            </a:pPr>
            <a:endParaRPr lang="ja-JP" altLang="en-US" dirty="0"/>
          </a:p>
          <a:p>
            <a:r>
              <a:rPr lang="ja-JP" altLang="en-US" dirty="0"/>
              <a:t>特に気温や湿度との関係が非線形である点がモデル選定の要因でした。</a:t>
            </a:r>
          </a:p>
          <a:p>
            <a:endParaRPr lang="ja-JP" altLang="en-US" dirty="0"/>
          </a:p>
          <a:p>
            <a:pPr>
              <a:defRPr/>
            </a:pPr>
            <a:endParaRPr dirty="0"/>
          </a:p>
        </p:txBody>
      </p:sp>
      <p:sp>
        <p:nvSpPr>
          <p:cNvPr id="4" name="Slide Number Placeholder 3"/>
          <p:cNvSpPr>
            <a:spLocks noGrp="1"/>
          </p:cNvSpPr>
          <p:nvPr>
            <p:ph type="sldNum" sz="quarter" idx="10"/>
          </p:nvPr>
        </p:nvSpPr>
        <p:spPr bwMode="auto"/>
        <p:txBody>
          <a:bodyPr/>
          <a:lstStyle/>
          <a:p>
            <a:pPr>
              <a:defRPr/>
            </a:pPr>
            <a:fld id="{D3B2E837-7CFC-3D58-35BF-641D8E6EE056}"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buFont typeface="Arial" panose="020B0604020202020204" pitchFamily="34" charset="0"/>
              <a:buChar char="•"/>
            </a:pPr>
            <a:r>
              <a:rPr lang="ja-JP" altLang="en-US" dirty="0"/>
              <a:t>データの分布や非線形性を分析し、その特性を踏まえて、</a:t>
            </a:r>
            <a:r>
              <a:rPr lang="en-US" altLang="ja-JP" dirty="0"/>
              <a:t>GAM</a:t>
            </a:r>
            <a:r>
              <a:rPr lang="ja-JP" altLang="en-US" dirty="0"/>
              <a:t>（一般化加法モデル）を採用しました</a:t>
            </a:r>
            <a:r>
              <a:rPr lang="vi-VN" altLang="ja-JP" dirty="0"/>
              <a:t>,</a:t>
            </a:r>
            <a:endParaRPr lang="ja-JP" altLang="en-US" dirty="0"/>
          </a:p>
          <a:p>
            <a:r>
              <a:rPr lang="ja-JP" altLang="en-US" dirty="0"/>
              <a:t>線形モデルでは説明できない非線形性を</a:t>
            </a:r>
            <a:r>
              <a:rPr lang="en-US" altLang="ja-JP" dirty="0"/>
              <a:t>GAM</a:t>
            </a:r>
            <a:r>
              <a:rPr lang="ja-JP" altLang="en-US" dirty="0"/>
              <a:t>のスプラインで捉えました。</a:t>
            </a:r>
          </a:p>
          <a:p>
            <a:pPr>
              <a:defRPr/>
            </a:pPr>
            <a:endParaRPr dirty="0"/>
          </a:p>
        </p:txBody>
      </p:sp>
      <p:sp>
        <p:nvSpPr>
          <p:cNvPr id="4" name="Slide Number Placeholder 3"/>
          <p:cNvSpPr>
            <a:spLocks noGrp="1"/>
          </p:cNvSpPr>
          <p:nvPr>
            <p:ph type="sldNum" sz="quarter" idx="10"/>
          </p:nvPr>
        </p:nvSpPr>
        <p:spPr bwMode="auto"/>
        <p:txBody>
          <a:bodyPr/>
          <a:lstStyle/>
          <a:p>
            <a:pPr>
              <a:defRPr/>
            </a:pPr>
            <a:fld id="{114849CF-F6D5-12D5-A784-016AA2B574BA}"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978FD34-B34E-F6C9-9240-A4C7CC49DE70}"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r>
              <a:rPr lang="ja-JP" altLang="en-US" dirty="0"/>
              <a:t>対数変換で分布の歪みを緩和し、周期成分は</a:t>
            </a:r>
            <a:r>
              <a:rPr lang="en-US" altLang="ja-JP" dirty="0"/>
              <a:t>sin/cos</a:t>
            </a:r>
            <a:r>
              <a:rPr lang="ja-JP" altLang="en-US" dirty="0"/>
              <a:t>で表現しました</a:t>
            </a:r>
          </a:p>
          <a:p>
            <a:pPr>
              <a:defRPr/>
            </a:pPr>
            <a:endParaRPr dirty="0"/>
          </a:p>
        </p:txBody>
      </p:sp>
      <p:sp>
        <p:nvSpPr>
          <p:cNvPr id="4" name="Slide Number Placeholder 3"/>
          <p:cNvSpPr>
            <a:spLocks noGrp="1"/>
          </p:cNvSpPr>
          <p:nvPr>
            <p:ph type="sldNum" sz="quarter" idx="10"/>
          </p:nvPr>
        </p:nvSpPr>
        <p:spPr bwMode="auto"/>
        <p:txBody>
          <a:bodyPr/>
          <a:lstStyle/>
          <a:p>
            <a:pPr>
              <a:defRPr/>
            </a:pPr>
            <a:fld id="{5B5B7650-A461-0BFB-08D5-477F334470C0}"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A741F41-5F7A-F604-2FAF-E7D1AEA4C4F8}"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ノート プレースホルダー 2"/>
          <p:cNvSpPr>
            <a:spLocks noGrp="1"/>
          </p:cNvSpPr>
          <p:nvPr>
            <p:ph type="body" idx="1"/>
          </p:nvPr>
        </p:nvSpPr>
        <p:spPr/>
        <p:txBody>
          <a:bodyPr/>
          <a:lstStyle/>
          <a:p>
            <a:r>
              <a:rPr lang="ja-JP" altLang="en-US" sz="4400" dirty="0"/>
              <a:t>モデルは</a:t>
            </a:r>
            <a:r>
              <a:rPr lang="en-US" altLang="ja-JP" sz="4400" dirty="0"/>
              <a:t>R²</a:t>
            </a:r>
            <a:r>
              <a:rPr lang="ja-JP" altLang="en-US" sz="4400" dirty="0"/>
              <a:t>が約</a:t>
            </a:r>
            <a:r>
              <a:rPr lang="en-US" altLang="ja-JP" sz="4400" dirty="0"/>
              <a:t>0.68</a:t>
            </a:r>
            <a:r>
              <a:rPr lang="ja-JP" altLang="en-US" sz="4400" dirty="0"/>
              <a:t>で、このグラフの通りです。</a:t>
            </a:r>
            <a:endParaRPr lang="ja-JP" altLang="en-US" sz="4400" b="1" dirty="0"/>
          </a:p>
          <a:p>
            <a:r>
              <a:rPr lang="ja-JP" altLang="en-US" sz="4400" dirty="0"/>
              <a:t>これらの評価指標は、精度が高く、実務においても参考価値が高いと考えられています。</a:t>
            </a:r>
          </a:p>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endParaRPr lang="ja-JP" altLang="en-US"/>
          </a:p>
        </p:txBody>
      </p:sp>
    </p:spTree>
    <p:extLst>
      <p:ext uri="{BB962C8B-B14F-4D97-AF65-F5344CB8AC3E}">
        <p14:creationId xmlns:p14="http://schemas.microsoft.com/office/powerpoint/2010/main" val="1837656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ja-JP" altLang="en-US" dirty="0"/>
              <a:t>ハイリスク日を前日予測し、事前に救急体制を強化する運用を提案します。</a:t>
            </a:r>
            <a:endParaRPr dirty="0"/>
          </a:p>
        </p:txBody>
      </p:sp>
      <p:sp>
        <p:nvSpPr>
          <p:cNvPr id="4" name="Slide Number Placeholder 3"/>
          <p:cNvSpPr>
            <a:spLocks noGrp="1"/>
          </p:cNvSpPr>
          <p:nvPr>
            <p:ph type="sldNum" sz="quarter" idx="10"/>
          </p:nvPr>
        </p:nvSpPr>
        <p:spPr bwMode="auto"/>
        <p:txBody>
          <a:bodyPr/>
          <a:lstStyle/>
          <a:p>
            <a:pPr>
              <a:defRPr/>
            </a:pPr>
            <a:fld id="{E94FF627-5DEA-B42E-C6EB-E6D3F4FCE686}"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dirty="0"/>
          </a:p>
        </p:txBody>
      </p:sp>
      <p:sp>
        <p:nvSpPr>
          <p:cNvPr id="4" name="Slide Number Placeholder 3"/>
          <p:cNvSpPr>
            <a:spLocks noGrp="1"/>
          </p:cNvSpPr>
          <p:nvPr>
            <p:ph type="sldNum" sz="quarter" idx="10"/>
          </p:nvPr>
        </p:nvSpPr>
        <p:spPr bwMode="auto"/>
        <p:txBody>
          <a:bodyPr/>
          <a:lstStyle/>
          <a:p>
            <a:pPr>
              <a:defRPr/>
            </a:pPr>
            <a:fld id="{302FA7AB-D4CE-0689-D9FD-6FCDE3DCAF49}"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AF900AC-0B9A-AA82-205C-BDC6488C85CB}" type="slidenum">
              <a:rPr/>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322079870" name="Title 1"/>
          <p:cNvSpPr>
            <a:spLocks noGrp="1"/>
          </p:cNvSpPr>
          <p:nvPr>
            <p:ph type="ctrTitle"/>
          </p:nvPr>
        </p:nvSpPr>
        <p:spPr bwMode="auto">
          <a:xfrm>
            <a:off x="685800" y="2130425"/>
            <a:ext cx="7772400" cy="1470025"/>
          </a:xfrm>
        </p:spPr>
        <p:txBody>
          <a:bodyPr/>
          <a:lstStyle/>
          <a:p>
            <a:pPr>
              <a:defRPr/>
            </a:pPr>
            <a:r>
              <a:rPr lang="en-US"/>
              <a:t>Click to edit Master title style</a:t>
            </a:r>
          </a:p>
        </p:txBody>
      </p:sp>
      <p:sp>
        <p:nvSpPr>
          <p:cNvPr id="1108164195"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567014749" name="Date Placeholder 3"/>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1193373829" name="Footer Placeholder 4"/>
          <p:cNvSpPr>
            <a:spLocks noGrp="1"/>
          </p:cNvSpPr>
          <p:nvPr>
            <p:ph type="ftr" sz="quarter" idx="11"/>
          </p:nvPr>
        </p:nvSpPr>
        <p:spPr bwMode="auto"/>
        <p:txBody>
          <a:bodyPr/>
          <a:lstStyle/>
          <a:p>
            <a:pPr>
              <a:defRPr/>
            </a:pPr>
            <a:endParaRPr lang="en-US"/>
          </a:p>
        </p:txBody>
      </p:sp>
      <p:sp>
        <p:nvSpPr>
          <p:cNvPr id="227452733"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821622597" name="Title 1"/>
          <p:cNvSpPr>
            <a:spLocks noGrp="1"/>
          </p:cNvSpPr>
          <p:nvPr>
            <p:ph type="title"/>
          </p:nvPr>
        </p:nvSpPr>
        <p:spPr bwMode="auto"/>
        <p:txBody>
          <a:bodyPr/>
          <a:lstStyle/>
          <a:p>
            <a:pPr>
              <a:defRPr/>
            </a:pPr>
            <a:r>
              <a:rPr lang="en-US"/>
              <a:t>Click to edit Master title style</a:t>
            </a:r>
          </a:p>
        </p:txBody>
      </p:sp>
      <p:sp>
        <p:nvSpPr>
          <p:cNvPr id="37135209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54857695" name="Date Placeholder 3"/>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1545938714" name="Footer Placeholder 4"/>
          <p:cNvSpPr>
            <a:spLocks noGrp="1"/>
          </p:cNvSpPr>
          <p:nvPr>
            <p:ph type="ftr" sz="quarter" idx="11"/>
          </p:nvPr>
        </p:nvSpPr>
        <p:spPr bwMode="auto"/>
        <p:txBody>
          <a:bodyPr/>
          <a:lstStyle/>
          <a:p>
            <a:pPr>
              <a:defRPr/>
            </a:pPr>
            <a:endParaRPr lang="en-US"/>
          </a:p>
        </p:txBody>
      </p:sp>
      <p:sp>
        <p:nvSpPr>
          <p:cNvPr id="690107497"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016820797"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p>
        </p:txBody>
      </p:sp>
      <p:sp>
        <p:nvSpPr>
          <p:cNvPr id="209783395"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2127256733" name="Date Placeholder 3"/>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1988258360" name="Footer Placeholder 4"/>
          <p:cNvSpPr>
            <a:spLocks noGrp="1"/>
          </p:cNvSpPr>
          <p:nvPr>
            <p:ph type="ftr" sz="quarter" idx="11"/>
          </p:nvPr>
        </p:nvSpPr>
        <p:spPr bwMode="auto"/>
        <p:txBody>
          <a:bodyPr/>
          <a:lstStyle/>
          <a:p>
            <a:pPr>
              <a:defRPr/>
            </a:pPr>
            <a:endParaRPr lang="en-US"/>
          </a:p>
        </p:txBody>
      </p:sp>
      <p:sp>
        <p:nvSpPr>
          <p:cNvPr id="2018708500"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460684239" name="Title 1"/>
          <p:cNvSpPr>
            <a:spLocks noGrp="1"/>
          </p:cNvSpPr>
          <p:nvPr>
            <p:ph type="title"/>
          </p:nvPr>
        </p:nvSpPr>
        <p:spPr bwMode="auto"/>
        <p:txBody>
          <a:bodyPr/>
          <a:lstStyle/>
          <a:p>
            <a:pPr>
              <a:defRPr/>
            </a:pPr>
            <a:r>
              <a:rPr lang="en-US"/>
              <a:t>Click to edit Master title style</a:t>
            </a:r>
          </a:p>
        </p:txBody>
      </p:sp>
      <p:sp>
        <p:nvSpPr>
          <p:cNvPr id="1773668019"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475916939"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009581372" name="Date Placeholder 4"/>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2095296839" name="Footer Placeholder 5"/>
          <p:cNvSpPr>
            <a:spLocks noGrp="1"/>
          </p:cNvSpPr>
          <p:nvPr>
            <p:ph type="ftr" sz="quarter" idx="11"/>
          </p:nvPr>
        </p:nvSpPr>
        <p:spPr bwMode="auto"/>
        <p:txBody>
          <a:bodyPr/>
          <a:lstStyle/>
          <a:p>
            <a:pPr>
              <a:defRPr/>
            </a:pPr>
            <a:endParaRPr lang="en-US"/>
          </a:p>
        </p:txBody>
      </p:sp>
      <p:sp>
        <p:nvSpPr>
          <p:cNvPr id="259256981"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628864293" name="Title 1"/>
          <p:cNvSpPr>
            <a:spLocks noGrp="1"/>
          </p:cNvSpPr>
          <p:nvPr>
            <p:ph type="title"/>
          </p:nvPr>
        </p:nvSpPr>
        <p:spPr bwMode="auto"/>
        <p:txBody>
          <a:bodyPr/>
          <a:lstStyle>
            <a:lvl1pPr>
              <a:defRPr/>
            </a:lvl1pPr>
          </a:lstStyle>
          <a:p>
            <a:pPr>
              <a:defRPr/>
            </a:pPr>
            <a:r>
              <a:rPr lang="en-US"/>
              <a:t>Click to edit Master title style</a:t>
            </a:r>
          </a:p>
        </p:txBody>
      </p:sp>
      <p:sp>
        <p:nvSpPr>
          <p:cNvPr id="211874745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80701757"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7205706"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31846087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189026790" name="Date Placeholder 6"/>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1132930111" name="Footer Placeholder 7"/>
          <p:cNvSpPr>
            <a:spLocks noGrp="1"/>
          </p:cNvSpPr>
          <p:nvPr>
            <p:ph type="ftr" sz="quarter" idx="11"/>
          </p:nvPr>
        </p:nvSpPr>
        <p:spPr bwMode="auto"/>
        <p:txBody>
          <a:bodyPr/>
          <a:lstStyle/>
          <a:p>
            <a:pPr>
              <a:defRPr/>
            </a:pPr>
            <a:endParaRPr lang="en-US"/>
          </a:p>
        </p:txBody>
      </p:sp>
      <p:sp>
        <p:nvSpPr>
          <p:cNvPr id="50988234"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70686456" name="Title 1"/>
          <p:cNvSpPr>
            <a:spLocks noGrp="1"/>
          </p:cNvSpPr>
          <p:nvPr>
            <p:ph type="title"/>
          </p:nvPr>
        </p:nvSpPr>
        <p:spPr bwMode="auto"/>
        <p:txBody>
          <a:bodyPr/>
          <a:lstStyle/>
          <a:p>
            <a:pPr>
              <a:defRPr/>
            </a:pPr>
            <a:r>
              <a:rPr lang="en-US"/>
              <a:t>Click to edit Master title style</a:t>
            </a:r>
          </a:p>
        </p:txBody>
      </p:sp>
      <p:sp>
        <p:nvSpPr>
          <p:cNvPr id="1362427941" name="Date Placeholder 2"/>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525812036" name="Footer Placeholder 3"/>
          <p:cNvSpPr>
            <a:spLocks noGrp="1"/>
          </p:cNvSpPr>
          <p:nvPr>
            <p:ph type="ftr" sz="quarter" idx="11"/>
          </p:nvPr>
        </p:nvSpPr>
        <p:spPr bwMode="auto"/>
        <p:txBody>
          <a:bodyPr/>
          <a:lstStyle/>
          <a:p>
            <a:pPr>
              <a:defRPr/>
            </a:pPr>
            <a:endParaRPr lang="en-US"/>
          </a:p>
        </p:txBody>
      </p:sp>
      <p:sp>
        <p:nvSpPr>
          <p:cNvPr id="1430970015"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974214420" name="Date Placeholder 1"/>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179178033" name="Footer Placeholder 2"/>
          <p:cNvSpPr>
            <a:spLocks noGrp="1"/>
          </p:cNvSpPr>
          <p:nvPr>
            <p:ph type="ftr" sz="quarter" idx="11"/>
          </p:nvPr>
        </p:nvSpPr>
        <p:spPr bwMode="auto"/>
        <p:txBody>
          <a:bodyPr/>
          <a:lstStyle/>
          <a:p>
            <a:pPr>
              <a:defRPr/>
            </a:pPr>
            <a:endParaRPr lang="en-US"/>
          </a:p>
        </p:txBody>
      </p:sp>
      <p:sp>
        <p:nvSpPr>
          <p:cNvPr id="178137589"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253194531"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p>
        </p:txBody>
      </p:sp>
      <p:sp>
        <p:nvSpPr>
          <p:cNvPr id="633850577"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83341757"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923993546" name="Date Placeholder 4"/>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1021899999" name="Footer Placeholder 5"/>
          <p:cNvSpPr>
            <a:spLocks noGrp="1"/>
          </p:cNvSpPr>
          <p:nvPr>
            <p:ph type="ftr" sz="quarter" idx="11"/>
          </p:nvPr>
        </p:nvSpPr>
        <p:spPr bwMode="auto"/>
        <p:txBody>
          <a:bodyPr/>
          <a:lstStyle/>
          <a:p>
            <a:pPr>
              <a:defRPr/>
            </a:pPr>
            <a:endParaRPr lang="en-US"/>
          </a:p>
        </p:txBody>
      </p:sp>
      <p:sp>
        <p:nvSpPr>
          <p:cNvPr id="1074439694"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15748559"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p>
        </p:txBody>
      </p:sp>
      <p:sp>
        <p:nvSpPr>
          <p:cNvPr id="1959696168"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50505907"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744021089" name="Date Placeholder 4"/>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978826517" name="Footer Placeholder 5"/>
          <p:cNvSpPr>
            <a:spLocks noGrp="1"/>
          </p:cNvSpPr>
          <p:nvPr>
            <p:ph type="ftr" sz="quarter" idx="11"/>
          </p:nvPr>
        </p:nvSpPr>
        <p:spPr bwMode="auto"/>
        <p:txBody>
          <a:bodyPr/>
          <a:lstStyle/>
          <a:p>
            <a:pPr>
              <a:defRPr/>
            </a:pPr>
            <a:endParaRPr lang="en-US"/>
          </a:p>
        </p:txBody>
      </p:sp>
      <p:sp>
        <p:nvSpPr>
          <p:cNvPr id="2041529844"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953805162" name="Title 1"/>
          <p:cNvSpPr>
            <a:spLocks noGrp="1"/>
          </p:cNvSpPr>
          <p:nvPr>
            <p:ph type="title"/>
          </p:nvPr>
        </p:nvSpPr>
        <p:spPr bwMode="auto"/>
        <p:txBody>
          <a:bodyPr/>
          <a:lstStyle/>
          <a:p>
            <a:pPr>
              <a:defRPr/>
            </a:pPr>
            <a:r>
              <a:rPr lang="en-US"/>
              <a:t>Click to edit Master title style</a:t>
            </a:r>
          </a:p>
        </p:txBody>
      </p:sp>
      <p:sp>
        <p:nvSpPr>
          <p:cNvPr id="1750987622"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179729008" name="Date Placeholder 3"/>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2057005982" name="Footer Placeholder 4"/>
          <p:cNvSpPr>
            <a:spLocks noGrp="1"/>
          </p:cNvSpPr>
          <p:nvPr>
            <p:ph type="ftr" sz="quarter" idx="11"/>
          </p:nvPr>
        </p:nvSpPr>
        <p:spPr bwMode="auto"/>
        <p:txBody>
          <a:bodyPr/>
          <a:lstStyle/>
          <a:p>
            <a:pPr>
              <a:defRPr/>
            </a:pPr>
            <a:endParaRPr lang="en-US"/>
          </a:p>
        </p:txBody>
      </p:sp>
      <p:sp>
        <p:nvSpPr>
          <p:cNvPr id="537313024"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647570787"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p>
        </p:txBody>
      </p:sp>
      <p:sp>
        <p:nvSpPr>
          <p:cNvPr id="777589278"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557362728" name="Date Placeholder 3"/>
          <p:cNvSpPr>
            <a:spLocks noGrp="1"/>
          </p:cNvSpPr>
          <p:nvPr>
            <p:ph type="dt" sz="half" idx="10"/>
          </p:nvPr>
        </p:nvSpPr>
        <p:spPr bwMode="auto"/>
        <p:txBody>
          <a:bodyPr/>
          <a:lstStyle/>
          <a:p>
            <a:pPr>
              <a:defRPr/>
            </a:pPr>
            <a:fld id="{1D8BD707-D9CF-40AE-B4C6-C98DA3205C09}" type="datetimeFigureOut">
              <a:rPr lang="en-US"/>
              <a:t>2/26/2026</a:t>
            </a:fld>
            <a:endParaRPr lang="en-US"/>
          </a:p>
        </p:txBody>
      </p:sp>
      <p:sp>
        <p:nvSpPr>
          <p:cNvPr id="1100811206" name="Footer Placeholder 4"/>
          <p:cNvSpPr>
            <a:spLocks noGrp="1"/>
          </p:cNvSpPr>
          <p:nvPr>
            <p:ph type="ftr" sz="quarter" idx="11"/>
          </p:nvPr>
        </p:nvSpPr>
        <p:spPr bwMode="auto"/>
        <p:txBody>
          <a:bodyPr/>
          <a:lstStyle/>
          <a:p>
            <a:pPr>
              <a:defRPr/>
            </a:pPr>
            <a:endParaRPr lang="en-US"/>
          </a:p>
        </p:txBody>
      </p:sp>
      <p:sp>
        <p:nvSpPr>
          <p:cNvPr id="612232747"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41FDF4-57B6-1FBA-345E-B921D38EDC13}"/>
              </a:ext>
            </a:extLst>
          </p:cNvPr>
          <p:cNvSpPr>
            <a:spLocks noGrp="1"/>
          </p:cNvSpPr>
          <p:nvPr>
            <p:ph type="ctrTitle"/>
          </p:nvPr>
        </p:nvSpPr>
        <p:spPr>
          <a:xfrm>
            <a:off x="2286000" y="1684338"/>
            <a:ext cx="13716000" cy="35814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3B31DF-984B-378B-8180-6D92874E2CA8}"/>
              </a:ext>
            </a:extLst>
          </p:cNvPr>
          <p:cNvSpPr>
            <a:spLocks noGrp="1"/>
          </p:cNvSpPr>
          <p:nvPr>
            <p:ph type="subTitle" idx="1"/>
          </p:nvPr>
        </p:nvSpPr>
        <p:spPr>
          <a:xfrm>
            <a:off x="2286000" y="5403850"/>
            <a:ext cx="13716000" cy="248285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104DF5C-303A-9695-A7EA-022DDFFAD690}"/>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794FF066-0BF0-9D39-5372-3C6AF1306A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3819FB-0237-A3DB-B722-CF0EFAC13191}"/>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831945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C1B3A9-46CC-7345-A3D4-DD364161AD6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E97094-9F66-A726-6487-BB82ADA6F03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4DF221E-7C80-33CA-0DEB-D60B0AD5F8DD}"/>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A9A09CC3-77E5-8EBF-35C6-CDDCCAE87A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4C2EF67-A3D2-9864-BA5B-29CB8D547EE8}"/>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103979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0F659F-3FA8-9D23-7866-5ED5C0BD8879}"/>
              </a:ext>
            </a:extLst>
          </p:cNvPr>
          <p:cNvSpPr>
            <a:spLocks noGrp="1"/>
          </p:cNvSpPr>
          <p:nvPr>
            <p:ph type="title"/>
          </p:nvPr>
        </p:nvSpPr>
        <p:spPr>
          <a:xfrm>
            <a:off x="1247775" y="2565400"/>
            <a:ext cx="15773400" cy="4278313"/>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75FD355-38DD-D530-020E-9D51C52C3911}"/>
              </a:ext>
            </a:extLst>
          </p:cNvPr>
          <p:cNvSpPr>
            <a:spLocks noGrp="1"/>
          </p:cNvSpPr>
          <p:nvPr>
            <p:ph type="body" idx="1"/>
          </p:nvPr>
        </p:nvSpPr>
        <p:spPr>
          <a:xfrm>
            <a:off x="1247775" y="6884988"/>
            <a:ext cx="15773400" cy="22494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9801189-CF7C-597E-B89C-7FB798BCE7E0}"/>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1527DCD4-BFE6-7E73-9164-C90541C5BA3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8EF5768-5372-2D4F-93A4-068AD08E5066}"/>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1456161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BDDB78-4F9F-D996-8685-2FF23941886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257FAE2-1766-1A1C-76E4-4E3A9714F6A1}"/>
              </a:ext>
            </a:extLst>
          </p:cNvPr>
          <p:cNvSpPr>
            <a:spLocks noGrp="1"/>
          </p:cNvSpPr>
          <p:nvPr>
            <p:ph sz="half" idx="1"/>
          </p:nvPr>
        </p:nvSpPr>
        <p:spPr>
          <a:xfrm>
            <a:off x="1257300" y="2738438"/>
            <a:ext cx="7810500" cy="6527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8724E49-7E28-CDF9-7105-02F2CAA42B01}"/>
              </a:ext>
            </a:extLst>
          </p:cNvPr>
          <p:cNvSpPr>
            <a:spLocks noGrp="1"/>
          </p:cNvSpPr>
          <p:nvPr>
            <p:ph sz="half" idx="2"/>
          </p:nvPr>
        </p:nvSpPr>
        <p:spPr>
          <a:xfrm>
            <a:off x="9220200" y="2738438"/>
            <a:ext cx="7810500" cy="6527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ADD5C4D-B5A8-ADD7-B4B4-D1BD0BCF27BA}"/>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134DA310-9BBA-3549-7FF3-635358A931A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A758FF5-E21D-4CB0-2DA9-031AF5F67624}"/>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10509437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713B7F-1968-AC14-4350-726D8DC08778}"/>
              </a:ext>
            </a:extLst>
          </p:cNvPr>
          <p:cNvSpPr>
            <a:spLocks noGrp="1"/>
          </p:cNvSpPr>
          <p:nvPr>
            <p:ph type="title"/>
          </p:nvPr>
        </p:nvSpPr>
        <p:spPr>
          <a:xfrm>
            <a:off x="1260475" y="547688"/>
            <a:ext cx="15773400" cy="1989137"/>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4030E52-8970-5BBF-D86F-D4093291CC17}"/>
              </a:ext>
            </a:extLst>
          </p:cNvPr>
          <p:cNvSpPr>
            <a:spLocks noGrp="1"/>
          </p:cNvSpPr>
          <p:nvPr>
            <p:ph type="body" idx="1"/>
          </p:nvPr>
        </p:nvSpPr>
        <p:spPr>
          <a:xfrm>
            <a:off x="1260475" y="2522538"/>
            <a:ext cx="7735888"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8F242CC-3672-B080-EF2D-B766F432CE13}"/>
              </a:ext>
            </a:extLst>
          </p:cNvPr>
          <p:cNvSpPr>
            <a:spLocks noGrp="1"/>
          </p:cNvSpPr>
          <p:nvPr>
            <p:ph sz="half" idx="2"/>
          </p:nvPr>
        </p:nvSpPr>
        <p:spPr>
          <a:xfrm>
            <a:off x="1260475" y="3757613"/>
            <a:ext cx="7735888" cy="552767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C4A9F9D-2BE9-10A4-6E98-993F2F8B31C7}"/>
              </a:ext>
            </a:extLst>
          </p:cNvPr>
          <p:cNvSpPr>
            <a:spLocks noGrp="1"/>
          </p:cNvSpPr>
          <p:nvPr>
            <p:ph type="body" sz="quarter" idx="3"/>
          </p:nvPr>
        </p:nvSpPr>
        <p:spPr>
          <a:xfrm>
            <a:off x="9258300" y="2522538"/>
            <a:ext cx="7775575"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E086FEC-0AE7-FB40-2F33-198B40EA9C6D}"/>
              </a:ext>
            </a:extLst>
          </p:cNvPr>
          <p:cNvSpPr>
            <a:spLocks noGrp="1"/>
          </p:cNvSpPr>
          <p:nvPr>
            <p:ph sz="quarter" idx="4"/>
          </p:nvPr>
        </p:nvSpPr>
        <p:spPr>
          <a:xfrm>
            <a:off x="9258300" y="3757613"/>
            <a:ext cx="7775575" cy="552767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76B72BF-9990-D1D6-24B5-7CB58B9C294B}"/>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8" name="フッター プレースホルダー 7">
            <a:extLst>
              <a:ext uri="{FF2B5EF4-FFF2-40B4-BE49-F238E27FC236}">
                <a16:creationId xmlns:a16="http://schemas.microsoft.com/office/drawing/2014/main" id="{F6682FF4-1FFD-428D-F7AA-332FA69BC0E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0BCF448-FBE6-DD2B-DFFE-45FE2724F78E}"/>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1151350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D81C48-555E-8E21-FBDD-E4A32620AA1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B1E3E3A-8641-BF2B-A33C-9B0C1D387B4B}"/>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4" name="フッター プレースホルダー 3">
            <a:extLst>
              <a:ext uri="{FF2B5EF4-FFF2-40B4-BE49-F238E27FC236}">
                <a16:creationId xmlns:a16="http://schemas.microsoft.com/office/drawing/2014/main" id="{FFCE829A-A289-676A-F962-C3EFAA87C33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E0ABE71-E94E-FA8A-1D0C-77AB8F3FD024}"/>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23678075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5543B00-FC94-7CA6-F6C5-ABBC893E89C6}"/>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3" name="フッター プレースホルダー 2">
            <a:extLst>
              <a:ext uri="{FF2B5EF4-FFF2-40B4-BE49-F238E27FC236}">
                <a16:creationId xmlns:a16="http://schemas.microsoft.com/office/drawing/2014/main" id="{A796A361-7333-EF36-81EC-C59825937DA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A649F0A-9D2C-7686-681D-F9E00D88362E}"/>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3863027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E92F50-4727-F902-449D-36A369D275B2}"/>
              </a:ext>
            </a:extLst>
          </p:cNvPr>
          <p:cNvSpPr>
            <a:spLocks noGrp="1"/>
          </p:cNvSpPr>
          <p:nvPr>
            <p:ph type="title"/>
          </p:nvPr>
        </p:nvSpPr>
        <p:spPr>
          <a:xfrm>
            <a:off x="1260475" y="685800"/>
            <a:ext cx="5897563" cy="24003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42AC56-A43F-1C21-1A74-647669672F1C}"/>
              </a:ext>
            </a:extLst>
          </p:cNvPr>
          <p:cNvSpPr>
            <a:spLocks noGrp="1"/>
          </p:cNvSpPr>
          <p:nvPr>
            <p:ph idx="1"/>
          </p:nvPr>
        </p:nvSpPr>
        <p:spPr>
          <a:xfrm>
            <a:off x="7775575" y="1481138"/>
            <a:ext cx="9258300"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F02930D-3660-9F55-F4EC-8DBD4FBD985B}"/>
              </a:ext>
            </a:extLst>
          </p:cNvPr>
          <p:cNvSpPr>
            <a:spLocks noGrp="1"/>
          </p:cNvSpPr>
          <p:nvPr>
            <p:ph type="body" sz="half" idx="2"/>
          </p:nvPr>
        </p:nvSpPr>
        <p:spPr>
          <a:xfrm>
            <a:off x="1260475" y="3086100"/>
            <a:ext cx="5897563"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06D648-D1DD-CA81-22CF-6EA1E8F6F996}"/>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92D061E9-F474-B5EB-891A-3B66D7917FC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1FF51CD-0E98-5BD0-4EE9-831833707507}"/>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37572497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2C1BBC-13EF-0258-2EF6-E3244FC1B196}"/>
              </a:ext>
            </a:extLst>
          </p:cNvPr>
          <p:cNvSpPr>
            <a:spLocks noGrp="1"/>
          </p:cNvSpPr>
          <p:nvPr>
            <p:ph type="title"/>
          </p:nvPr>
        </p:nvSpPr>
        <p:spPr>
          <a:xfrm>
            <a:off x="1260475" y="685800"/>
            <a:ext cx="5897563" cy="24003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53A5253-988E-0858-384C-64435C5CA6F4}"/>
              </a:ext>
            </a:extLst>
          </p:cNvPr>
          <p:cNvSpPr>
            <a:spLocks noGrp="1"/>
          </p:cNvSpPr>
          <p:nvPr>
            <p:ph type="pic" idx="1"/>
          </p:nvPr>
        </p:nvSpPr>
        <p:spPr>
          <a:xfrm>
            <a:off x="7775575" y="1481138"/>
            <a:ext cx="9258300"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D76FA8D-F34A-0CB2-BABC-8D58B8930B96}"/>
              </a:ext>
            </a:extLst>
          </p:cNvPr>
          <p:cNvSpPr>
            <a:spLocks noGrp="1"/>
          </p:cNvSpPr>
          <p:nvPr>
            <p:ph type="body" sz="half" idx="2"/>
          </p:nvPr>
        </p:nvSpPr>
        <p:spPr>
          <a:xfrm>
            <a:off x="1260475" y="3086100"/>
            <a:ext cx="5897563"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2CA28BC-092E-9BE7-7665-4883E494E296}"/>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543FCD84-6563-5735-AD40-A2954B1A646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D8C795-1759-D43C-9B81-8AB8F4EEE365}"/>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4235802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1B088-DCBB-A915-9FAA-3E446A670C9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BD1E9AC-5333-2CD2-C612-3A89B0D359E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83CDF8-CCCA-C84B-E18D-8EAAD27EC3B7}"/>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1F4AAC46-8AEA-9094-4634-ED1618027F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77FB148-A61F-701B-C56A-AF1D283EA952}"/>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16921940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D25B86E-B944-6F72-C068-7C56860D1CCF}"/>
              </a:ext>
            </a:extLst>
          </p:cNvPr>
          <p:cNvSpPr>
            <a:spLocks noGrp="1"/>
          </p:cNvSpPr>
          <p:nvPr>
            <p:ph type="title" orient="vert"/>
          </p:nvPr>
        </p:nvSpPr>
        <p:spPr>
          <a:xfrm>
            <a:off x="13087350" y="547688"/>
            <a:ext cx="3943350" cy="8718550"/>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7D49AE6-D8D1-2692-30D3-0EEFE0F71AEC}"/>
              </a:ext>
            </a:extLst>
          </p:cNvPr>
          <p:cNvSpPr>
            <a:spLocks noGrp="1"/>
          </p:cNvSpPr>
          <p:nvPr>
            <p:ph type="body" orient="vert" idx="1"/>
          </p:nvPr>
        </p:nvSpPr>
        <p:spPr>
          <a:xfrm>
            <a:off x="1257300" y="547688"/>
            <a:ext cx="11677650" cy="8718550"/>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5EDCFE2-766C-F132-E67D-73F21536CE63}"/>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AFB6FB21-B6FC-B990-7D82-3BCE7763A01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90C7DE1-A0CB-9520-9967-0014CC1DAE6D}"/>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38165128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CE871B-5DD5-7901-255B-3E26921EA32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C8D81FF-F5F6-CEE2-0FDE-DA69B828C547}"/>
              </a:ext>
            </a:extLst>
          </p:cNvPr>
          <p:cNvSpPr>
            <a:spLocks noGrp="1"/>
          </p:cNvSpPr>
          <p:nvPr>
            <p:ph type="dt" sz="half" idx="10"/>
          </p:nvPr>
        </p:nvSpPr>
        <p:spPr/>
        <p:txBody>
          <a:bodyPr/>
          <a:lstStyle/>
          <a:p>
            <a:fld id="{E44EB96B-8209-4965-A976-38768EF5FC31}" type="datetimeFigureOut">
              <a:rPr kumimoji="1" lang="ja-JP" altLang="en-US" smtClean="0"/>
              <a:t>2026/2/26</a:t>
            </a:fld>
            <a:endParaRPr kumimoji="1" lang="ja-JP" altLang="en-US"/>
          </a:p>
        </p:txBody>
      </p:sp>
      <p:sp>
        <p:nvSpPr>
          <p:cNvPr id="4" name="フッター プレースホルダー 3">
            <a:extLst>
              <a:ext uri="{FF2B5EF4-FFF2-40B4-BE49-F238E27FC236}">
                <a16:creationId xmlns:a16="http://schemas.microsoft.com/office/drawing/2014/main" id="{CAB56A65-F485-6386-3FAA-C6193AEA731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BE1A548-EA77-13B0-A88E-1DC4CC382965}"/>
              </a:ext>
            </a:extLst>
          </p:cNvPr>
          <p:cNvSpPr>
            <a:spLocks noGrp="1"/>
          </p:cNvSpPr>
          <p:nvPr>
            <p:ph type="sldNum" sz="quarter" idx="12"/>
          </p:nvPr>
        </p:nvSpPr>
        <p:spPr/>
        <p:txBody>
          <a:body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1734065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817493165"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dirty="0"/>
              <a:t>Click to edit Master title style</a:t>
            </a:r>
          </a:p>
        </p:txBody>
      </p:sp>
      <p:sp>
        <p:nvSpPr>
          <p:cNvPr id="628495331"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dirty="0"/>
              <a:t>Click to edit Master text styles</a:t>
            </a:r>
            <a:endParaRPr dirty="0"/>
          </a:p>
          <a:p>
            <a:pPr lvl="1">
              <a:defRPr/>
            </a:pPr>
            <a:r>
              <a:rPr lang="en-US" dirty="0"/>
              <a:t>Second level</a:t>
            </a:r>
            <a:endParaRPr dirty="0"/>
          </a:p>
          <a:p>
            <a:pPr lvl="2">
              <a:defRPr/>
            </a:pPr>
            <a:r>
              <a:rPr lang="en-US" dirty="0"/>
              <a:t>Third level</a:t>
            </a:r>
            <a:endParaRPr dirty="0"/>
          </a:p>
          <a:p>
            <a:pPr lvl="3">
              <a:defRPr/>
            </a:pPr>
            <a:r>
              <a:rPr lang="en-US" dirty="0"/>
              <a:t>Fourth level</a:t>
            </a:r>
            <a:endParaRPr dirty="0"/>
          </a:p>
          <a:p>
            <a:pPr lvl="4">
              <a:defRPr/>
            </a:pPr>
            <a:r>
              <a:rPr lang="en-US" dirty="0"/>
              <a:t>Fifth level</a:t>
            </a:r>
          </a:p>
        </p:txBody>
      </p:sp>
      <p:sp>
        <p:nvSpPr>
          <p:cNvPr id="1912397092"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2/26/2026</a:t>
            </a:fld>
            <a:endParaRPr lang="en-US"/>
          </a:p>
        </p:txBody>
      </p:sp>
      <p:sp>
        <p:nvSpPr>
          <p:cNvPr id="387289835"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401602498"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BIZ UDPゴシック" panose="020B0400000000000000" pitchFamily="50" charset="-128"/>
          <a:ea typeface="BIZ UDPゴシック" panose="020B0400000000000000" pitchFamily="50" charset="-128"/>
          <a:cs typeface="+mj-cs"/>
        </a:defRPr>
      </a:lvl1pPr>
    </p:titleStyle>
    <p:bodyStyle>
      <a:lvl1pPr marL="342900" indent="-342900" algn="l" defTabSz="914400" rtl="0">
        <a:spcBef>
          <a:spcPts val="0"/>
        </a:spcBef>
        <a:buFont typeface="Arial"/>
        <a:buChar char="•"/>
        <a:defRPr sz="3200">
          <a:solidFill>
            <a:schemeClr val="tx1"/>
          </a:solidFill>
          <a:latin typeface="BIZ UDPゴシック" panose="020B0400000000000000" pitchFamily="50" charset="-128"/>
          <a:ea typeface="BIZ UDPゴシック" panose="020B0400000000000000" pitchFamily="50" charset="-128"/>
          <a:cs typeface="+mn-cs"/>
        </a:defRPr>
      </a:lvl1pPr>
      <a:lvl2pPr marL="742950" indent="-285750" algn="l" defTabSz="914400" rtl="0">
        <a:spcBef>
          <a:spcPts val="0"/>
        </a:spcBef>
        <a:buFont typeface="Arial"/>
        <a:buChar char="–"/>
        <a:defRPr sz="2800">
          <a:solidFill>
            <a:schemeClr val="tx1"/>
          </a:solidFill>
          <a:latin typeface="BIZ UDPゴシック" panose="020B0400000000000000" pitchFamily="50" charset="-128"/>
          <a:ea typeface="BIZ UDPゴシック" panose="020B0400000000000000" pitchFamily="50" charset="-128"/>
          <a:cs typeface="+mn-cs"/>
        </a:defRPr>
      </a:lvl2pPr>
      <a:lvl3pPr marL="1143000" indent="-228600" algn="l" defTabSz="914400" rtl="0">
        <a:spcBef>
          <a:spcPts val="0"/>
        </a:spcBef>
        <a:buFont typeface="Arial"/>
        <a:buChar char="•"/>
        <a:defRPr sz="2400">
          <a:solidFill>
            <a:schemeClr val="tx1"/>
          </a:solidFill>
          <a:latin typeface="BIZ UDPゴシック" panose="020B0400000000000000" pitchFamily="50" charset="-128"/>
          <a:ea typeface="BIZ UDPゴシック" panose="020B0400000000000000" pitchFamily="50" charset="-128"/>
          <a:cs typeface="+mn-cs"/>
        </a:defRPr>
      </a:lvl3pPr>
      <a:lvl4pPr marL="1600200" indent="-228600" algn="l" defTabSz="914400" rtl="0">
        <a:spcBef>
          <a:spcPts val="0"/>
        </a:spcBef>
        <a:buFont typeface="Arial"/>
        <a:buChar char="–"/>
        <a:defRPr sz="2000">
          <a:solidFill>
            <a:schemeClr val="tx1"/>
          </a:solidFill>
          <a:latin typeface="BIZ UDPゴシック" panose="020B0400000000000000" pitchFamily="50" charset="-128"/>
          <a:ea typeface="BIZ UDPゴシック" panose="020B0400000000000000" pitchFamily="50" charset="-128"/>
          <a:cs typeface="+mn-cs"/>
        </a:defRPr>
      </a:lvl4pPr>
      <a:lvl5pPr marL="2057400" indent="-228600" algn="l" defTabSz="914400" rtl="0">
        <a:spcBef>
          <a:spcPts val="0"/>
        </a:spcBef>
        <a:buFont typeface="Arial"/>
        <a:buChar char="»"/>
        <a:defRPr sz="2000">
          <a:solidFill>
            <a:schemeClr val="tx1"/>
          </a:solidFill>
          <a:latin typeface="BIZ UDPゴシック" panose="020B0400000000000000" pitchFamily="50" charset="-128"/>
          <a:ea typeface="BIZ UDPゴシック" panose="020B0400000000000000" pitchFamily="50" charset="-128"/>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D2B046D-36BC-40DF-E3A0-1BAE8E251BB0}"/>
              </a:ext>
            </a:extLst>
          </p:cNvPr>
          <p:cNvSpPr>
            <a:spLocks noGrp="1"/>
          </p:cNvSpPr>
          <p:nvPr>
            <p:ph type="title"/>
          </p:nvPr>
        </p:nvSpPr>
        <p:spPr>
          <a:xfrm>
            <a:off x="1257300" y="547688"/>
            <a:ext cx="15773400" cy="1989137"/>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C3E98C1-96C6-2E9E-4AF0-FC8022F4E076}"/>
              </a:ext>
            </a:extLst>
          </p:cNvPr>
          <p:cNvSpPr>
            <a:spLocks noGrp="1"/>
          </p:cNvSpPr>
          <p:nvPr>
            <p:ph type="body" idx="1"/>
          </p:nvPr>
        </p:nvSpPr>
        <p:spPr>
          <a:xfrm>
            <a:off x="1257300" y="2738438"/>
            <a:ext cx="15773400" cy="6527800"/>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367A0CD-70DB-6035-A536-AD5D920D50DC}"/>
              </a:ext>
            </a:extLst>
          </p:cNvPr>
          <p:cNvSpPr>
            <a:spLocks noGrp="1"/>
          </p:cNvSpPr>
          <p:nvPr>
            <p:ph type="dt" sz="half" idx="2"/>
          </p:nvPr>
        </p:nvSpPr>
        <p:spPr>
          <a:xfrm>
            <a:off x="1257300" y="9534525"/>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E44EB96B-8209-4965-A976-38768EF5FC31}" type="datetimeFigureOut">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8941F3EE-E256-A7D0-9517-8EDDC9E0771E}"/>
              </a:ext>
            </a:extLst>
          </p:cNvPr>
          <p:cNvSpPr>
            <a:spLocks noGrp="1"/>
          </p:cNvSpPr>
          <p:nvPr>
            <p:ph type="ftr" sz="quarter" idx="3"/>
          </p:nvPr>
        </p:nvSpPr>
        <p:spPr>
          <a:xfrm>
            <a:off x="6057900" y="9534525"/>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78010D8-DC1D-1DC7-A979-AAE93DB94E18}"/>
              </a:ext>
            </a:extLst>
          </p:cNvPr>
          <p:cNvSpPr>
            <a:spLocks noGrp="1"/>
          </p:cNvSpPr>
          <p:nvPr>
            <p:ph type="sldNum" sz="quarter" idx="4"/>
          </p:nvPr>
        </p:nvSpPr>
        <p:spPr>
          <a:xfrm>
            <a:off x="12915900" y="9534525"/>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95211F44-01BE-4CB0-B13C-F0DBD89D8942}" type="slidenum">
              <a:rPr kumimoji="1" lang="ja-JP" altLang="en-US" smtClean="0"/>
              <a:t>‹#›</a:t>
            </a:fld>
            <a:endParaRPr kumimoji="1" lang="ja-JP" altLang="en-US"/>
          </a:p>
        </p:txBody>
      </p:sp>
    </p:spTree>
    <p:extLst>
      <p:ext uri="{BB962C8B-B14F-4D97-AF65-F5344CB8AC3E}">
        <p14:creationId xmlns:p14="http://schemas.microsoft.com/office/powerpoint/2010/main" val="2591195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9.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731111447" name="Group 2"/>
          <p:cNvGrpSpPr/>
          <p:nvPr/>
        </p:nvGrpSpPr>
        <p:grpSpPr bwMode="auto">
          <a:xfrm>
            <a:off x="792370" y="792370"/>
            <a:ext cx="472661" cy="472661"/>
            <a:chOff x="0" y="0"/>
            <a:chExt cx="812800" cy="812800"/>
          </a:xfrm>
        </p:grpSpPr>
        <p:sp>
          <p:nvSpPr>
            <p:cNvPr id="3" name="Freeform 3"/>
            <p:cNvSpPr/>
            <p:nvPr/>
          </p:nvSpPr>
          <p:spPr bwMode="auto">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bwMode="auto">
            <a:xfrm>
              <a:off x="76200" y="28575"/>
              <a:ext cx="660400" cy="708025"/>
            </a:xfrm>
            <a:prstGeom prst="rect">
              <a:avLst/>
            </a:prstGeom>
            <a:grpFill/>
          </p:spPr>
          <p:txBody>
            <a:bodyPr lIns="50800" tIns="50800" rIns="50800" bIns="50800" rtlCol="0" anchor="ctr"/>
            <a:lstStyle/>
            <a:p>
              <a:pPr algn="ctr">
                <a:lnSpc>
                  <a:spcPts val="3012"/>
                </a:lnSpc>
                <a:defRPr/>
              </a:pPr>
              <a:endParaRPr/>
            </a:p>
          </p:txBody>
        </p:sp>
      </p:grpSp>
      <p:sp>
        <p:nvSpPr>
          <p:cNvPr id="1903111528" name="AutoShape 5"/>
          <p:cNvSpPr/>
          <p:nvPr/>
        </p:nvSpPr>
        <p:spPr bwMode="auto">
          <a:xfrm>
            <a:off x="17364075" y="6915141"/>
            <a:ext cx="0" cy="2610617"/>
          </a:xfrm>
          <a:prstGeom prst="line">
            <a:avLst/>
          </a:prstGeom>
          <a:ln w="123825" cap="flat">
            <a:solidFill>
              <a:srgbClr val="BBC8B1"/>
            </a:solidFill>
            <a:prstDash val="sysDot"/>
            <a:headEnd type="none" w="sm" len="sm"/>
            <a:tailEnd type="none" w="sm" len="sm"/>
          </a:ln>
        </p:spPr>
      </p:sp>
      <p:grpSp>
        <p:nvGrpSpPr>
          <p:cNvPr id="2042366342" name="Group 6"/>
          <p:cNvGrpSpPr/>
          <p:nvPr/>
        </p:nvGrpSpPr>
        <p:grpSpPr bwMode="auto">
          <a:xfrm>
            <a:off x="13756206" y="-514350"/>
            <a:ext cx="6163724" cy="3086100"/>
            <a:chOff x="0" y="0"/>
            <a:chExt cx="1623368" cy="812800"/>
          </a:xfrm>
        </p:grpSpPr>
        <p:sp>
          <p:nvSpPr>
            <p:cNvPr id="7" name="Freeform 7"/>
            <p:cNvSpPr/>
            <p:nvPr/>
          </p:nvSpPr>
          <p:spPr bwMode="auto">
            <a:xfrm>
              <a:off x="0" y="0"/>
              <a:ext cx="1623368" cy="812800"/>
            </a:xfrm>
            <a:custGeom>
              <a:avLst/>
              <a:gdLst/>
              <a:ahLst/>
              <a:cxnLst/>
              <a:rect l="l" t="t" r="r" b="b"/>
              <a:pathLst>
                <a:path w="1623368" h="812800" extrusionOk="0">
                  <a:moveTo>
                    <a:pt x="0" y="0"/>
                  </a:moveTo>
                  <a:lnTo>
                    <a:pt x="1623368" y="0"/>
                  </a:lnTo>
                  <a:lnTo>
                    <a:pt x="1623368" y="812800"/>
                  </a:lnTo>
                  <a:lnTo>
                    <a:pt x="0" y="812800"/>
                  </a:lnTo>
                  <a:close/>
                </a:path>
              </a:pathLst>
            </a:custGeom>
            <a:solidFill>
              <a:srgbClr val="EAEBE9"/>
            </a:solidFill>
          </p:spPr>
        </p:sp>
        <p:sp>
          <p:nvSpPr>
            <p:cNvPr id="8" name="TextBox 8"/>
            <p:cNvSpPr txBox="1"/>
            <p:nvPr/>
          </p:nvSpPr>
          <p:spPr bwMode="auto">
            <a:xfrm>
              <a:off x="0" y="-47625"/>
              <a:ext cx="1623368" cy="860425"/>
            </a:xfrm>
            <a:prstGeom prst="rect">
              <a:avLst/>
            </a:prstGeom>
            <a:grpFill/>
          </p:spPr>
          <p:txBody>
            <a:bodyPr lIns="50800" tIns="50800" rIns="50800" bIns="50800" rtlCol="0" anchor="ctr"/>
            <a:lstStyle/>
            <a:p>
              <a:pPr algn="ctr">
                <a:lnSpc>
                  <a:spcPts val="3012"/>
                </a:lnSpc>
                <a:defRPr/>
              </a:pPr>
              <a:endParaRPr/>
            </a:p>
          </p:txBody>
        </p:sp>
      </p:grpSp>
      <p:grpSp>
        <p:nvGrpSpPr>
          <p:cNvPr id="337933894" name="Group 9"/>
          <p:cNvGrpSpPr/>
          <p:nvPr/>
        </p:nvGrpSpPr>
        <p:grpSpPr bwMode="auto">
          <a:xfrm>
            <a:off x="-2582136" y="8362283"/>
            <a:ext cx="7059741" cy="3086100"/>
            <a:chOff x="0" y="0"/>
            <a:chExt cx="1859356" cy="812800"/>
          </a:xfrm>
        </p:grpSpPr>
        <p:sp>
          <p:nvSpPr>
            <p:cNvPr id="10" name="Freeform 10"/>
            <p:cNvSpPr/>
            <p:nvPr/>
          </p:nvSpPr>
          <p:spPr bwMode="auto">
            <a:xfrm>
              <a:off x="0" y="0"/>
              <a:ext cx="1859356" cy="812800"/>
            </a:xfrm>
            <a:custGeom>
              <a:avLst/>
              <a:gdLst/>
              <a:ahLst/>
              <a:cxnLst/>
              <a:rect l="l" t="t" r="r" b="b"/>
              <a:pathLst>
                <a:path w="1859356" h="812800" extrusionOk="0">
                  <a:moveTo>
                    <a:pt x="0" y="0"/>
                  </a:moveTo>
                  <a:lnTo>
                    <a:pt x="1859356" y="0"/>
                  </a:lnTo>
                  <a:lnTo>
                    <a:pt x="1859356" y="812800"/>
                  </a:lnTo>
                  <a:lnTo>
                    <a:pt x="0" y="812800"/>
                  </a:lnTo>
                  <a:close/>
                </a:path>
              </a:pathLst>
            </a:custGeom>
            <a:solidFill>
              <a:srgbClr val="EAEBE9"/>
            </a:solidFill>
          </p:spPr>
        </p:sp>
        <p:sp>
          <p:nvSpPr>
            <p:cNvPr id="11" name="TextBox 11"/>
            <p:cNvSpPr txBox="1"/>
            <p:nvPr/>
          </p:nvSpPr>
          <p:spPr bwMode="auto">
            <a:xfrm>
              <a:off x="0" y="-47625"/>
              <a:ext cx="1859356" cy="860425"/>
            </a:xfrm>
            <a:prstGeom prst="rect">
              <a:avLst/>
            </a:prstGeom>
            <a:grpFill/>
          </p:spPr>
          <p:txBody>
            <a:bodyPr lIns="50800" tIns="50800" rIns="50800" bIns="50800" rtlCol="0" anchor="ctr"/>
            <a:lstStyle/>
            <a:p>
              <a:pPr algn="ctr">
                <a:lnSpc>
                  <a:spcPts val="3012"/>
                </a:lnSpc>
                <a:defRPr/>
              </a:pPr>
              <a:endParaRPr/>
            </a:p>
          </p:txBody>
        </p:sp>
      </p:grpSp>
      <p:sp>
        <p:nvSpPr>
          <p:cNvPr id="1200276576" name="TextBox 12"/>
          <p:cNvSpPr txBox="1"/>
          <p:nvPr/>
        </p:nvSpPr>
        <p:spPr bwMode="auto">
          <a:xfrm>
            <a:off x="1771519" y="3012727"/>
            <a:ext cx="14744962" cy="3051872"/>
          </a:xfrm>
          <a:prstGeom prst="rect">
            <a:avLst/>
          </a:prstGeom>
        </p:spPr>
        <p:txBody>
          <a:bodyPr lIns="0" tIns="0" rIns="0" bIns="0" rtlCol="0" anchor="t">
            <a:spAutoFit/>
          </a:bodyPr>
          <a:lstStyle/>
          <a:p>
            <a:pPr marL="0" lvl="0" indent="0" algn="ctr">
              <a:lnSpc>
                <a:spcPts val="11979"/>
              </a:lnSpc>
              <a:defRPr/>
            </a:pPr>
            <a:r>
              <a:rPr lang="en-US" sz="10500" b="1" dirty="0" err="1">
                <a:solidFill>
                  <a:srgbClr val="5F6F52"/>
                </a:solidFill>
                <a:latin typeface="+mj-ea"/>
                <a:ea typeface="+mj-ea"/>
                <a:cs typeface="Glacial Indifference Bold"/>
              </a:rPr>
              <a:t>熱中症搬送者数予測</a:t>
            </a:r>
            <a:endParaRPr lang="vi-VN" sz="10500" b="1" dirty="0">
              <a:solidFill>
                <a:srgbClr val="5F6F52"/>
              </a:solidFill>
              <a:latin typeface="+mj-ea"/>
              <a:ea typeface="+mj-ea"/>
              <a:cs typeface="Glacial Indifference Bold"/>
            </a:endParaRPr>
          </a:p>
          <a:p>
            <a:pPr marL="0" lvl="0" indent="0" algn="ctr">
              <a:lnSpc>
                <a:spcPts val="11979"/>
              </a:lnSpc>
              <a:defRPr/>
            </a:pPr>
            <a:r>
              <a:rPr lang="en-US" sz="10500" b="1" dirty="0" err="1">
                <a:solidFill>
                  <a:srgbClr val="5F6F52"/>
                </a:solidFill>
                <a:latin typeface="+mj-ea"/>
                <a:ea typeface="+mj-ea"/>
                <a:cs typeface="Glacial Indifference Bold"/>
              </a:rPr>
              <a:t>プロジェクト</a:t>
            </a:r>
            <a:endParaRPr dirty="0">
              <a:latin typeface="+mj-ea"/>
              <a:ea typeface="+mj-ea"/>
            </a:endParaRPr>
          </a:p>
        </p:txBody>
      </p:sp>
      <p:sp>
        <p:nvSpPr>
          <p:cNvPr id="1708397739" name="TextBox 13"/>
          <p:cNvSpPr txBox="1"/>
          <p:nvPr/>
        </p:nvSpPr>
        <p:spPr bwMode="auto">
          <a:xfrm>
            <a:off x="1771519" y="6260447"/>
            <a:ext cx="14744962" cy="654694"/>
          </a:xfrm>
          <a:prstGeom prst="rect">
            <a:avLst/>
          </a:prstGeom>
        </p:spPr>
        <p:txBody>
          <a:bodyPr lIns="0" tIns="0" rIns="0" bIns="0" rtlCol="0" anchor="t">
            <a:spAutoFit/>
          </a:bodyPr>
          <a:lstStyle/>
          <a:p>
            <a:pPr marL="0" lvl="0" indent="0" algn="ctr">
              <a:lnSpc>
                <a:spcPts val="4863"/>
              </a:lnSpc>
              <a:defRPr/>
            </a:pPr>
            <a:r>
              <a:rPr lang="en-US" sz="3450">
                <a:solidFill>
                  <a:srgbClr val="BBC8B1"/>
                </a:solidFill>
                <a:latin typeface="Futura"/>
                <a:ea typeface="Futura"/>
                <a:cs typeface="Futura"/>
              </a:rPr>
              <a:t>作者：ディン・ティエン・クオン</a:t>
            </a:r>
            <a:endParaRPr/>
          </a:p>
        </p:txBody>
      </p:sp>
      <p:sp>
        <p:nvSpPr>
          <p:cNvPr id="1517927758" name="TextBox 14"/>
          <p:cNvSpPr txBox="1"/>
          <p:nvPr/>
        </p:nvSpPr>
        <p:spPr bwMode="auto">
          <a:xfrm>
            <a:off x="792370" y="1339536"/>
            <a:ext cx="665110" cy="5941059"/>
          </a:xfrm>
          <a:prstGeom prst="rect">
            <a:avLst/>
          </a:prstGeom>
        </p:spPr>
        <p:txBody>
          <a:bodyPr lIns="0" tIns="0" rIns="0" bIns="0" rtlCol="0" anchor="t">
            <a:spAutoFit/>
          </a:bodyPr>
          <a:lstStyle/>
          <a:p>
            <a:pPr marL="0" lvl="0" indent="0" algn="l">
              <a:lnSpc>
                <a:spcPts val="5203"/>
              </a:lnSpc>
              <a:spcBef>
                <a:spcPts val="0"/>
              </a:spcBef>
              <a:defRPr/>
            </a:pPr>
            <a:r>
              <a:rPr lang="en-US" sz="3700" i="1">
                <a:solidFill>
                  <a:srgbClr val="465739"/>
                </a:solidFill>
                <a:latin typeface="Futura Italics"/>
                <a:ea typeface="Futura Italics"/>
                <a:cs typeface="Futura Italics"/>
              </a:rPr>
              <a:t>早稲田文理専門学校</a:t>
            </a:r>
            <a:endParaRPr/>
          </a:p>
        </p:txBody>
      </p:sp>
      <p:sp>
        <p:nvSpPr>
          <p:cNvPr id="867213242" name="TextBox 15"/>
          <p:cNvSpPr txBox="1"/>
          <p:nvPr/>
        </p:nvSpPr>
        <p:spPr bwMode="auto">
          <a:xfrm>
            <a:off x="12115807" y="8872110"/>
            <a:ext cx="4848664" cy="557140"/>
          </a:xfrm>
          <a:prstGeom prst="rect">
            <a:avLst/>
          </a:prstGeom>
        </p:spPr>
        <p:txBody>
          <a:bodyPr wrap="square" lIns="0" tIns="0" rIns="0" bIns="0" rtlCol="0" anchor="t">
            <a:spAutoFit/>
          </a:bodyPr>
          <a:lstStyle/>
          <a:p>
            <a:pPr marL="0" lvl="0" indent="0" algn="r">
              <a:lnSpc>
                <a:spcPts val="4677"/>
              </a:lnSpc>
              <a:spcBef>
                <a:spcPts val="0"/>
              </a:spcBef>
              <a:defRPr/>
            </a:pPr>
            <a:r>
              <a:rPr lang="en-US" altLang="ja-JP" sz="3350" dirty="0">
                <a:solidFill>
                  <a:srgbClr val="465739"/>
                </a:solidFill>
                <a:latin typeface="Futura"/>
                <a:ea typeface="Futura"/>
                <a:cs typeface="Futura"/>
              </a:rPr>
              <a:t>２０２６ </a:t>
            </a:r>
            <a:r>
              <a:rPr lang="ja-JP" altLang="en-US" sz="3350" dirty="0">
                <a:solidFill>
                  <a:srgbClr val="465739"/>
                </a:solidFill>
                <a:latin typeface="Futura"/>
                <a:ea typeface="Futura"/>
                <a:cs typeface="Futura"/>
              </a:rPr>
              <a:t>年</a:t>
            </a:r>
            <a:r>
              <a:rPr lang="en-US" altLang="ja-JP" sz="3350" dirty="0">
                <a:solidFill>
                  <a:srgbClr val="465739"/>
                </a:solidFill>
                <a:latin typeface="Futura"/>
                <a:ea typeface="Futura"/>
                <a:cs typeface="Futura"/>
              </a:rPr>
              <a:t>２月 </a:t>
            </a:r>
            <a:r>
              <a:rPr lang="ja-JP" altLang="en-US" sz="3350" dirty="0">
                <a:solidFill>
                  <a:srgbClr val="465739"/>
                </a:solidFill>
                <a:latin typeface="Futura"/>
                <a:ea typeface="Futura"/>
                <a:cs typeface="Futura"/>
              </a:rPr>
              <a:t>２６日</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391430074" name="Group 2"/>
          <p:cNvGrpSpPr/>
          <p:nvPr/>
        </p:nvGrpSpPr>
        <p:grpSpPr bwMode="auto">
          <a:xfrm>
            <a:off x="-514350" y="-514350"/>
            <a:ext cx="7554533" cy="11734612"/>
            <a:chOff x="0" y="0"/>
            <a:chExt cx="1989671" cy="3090597"/>
          </a:xfrm>
        </p:grpSpPr>
        <p:sp>
          <p:nvSpPr>
            <p:cNvPr id="3" name="Freeform 3"/>
            <p:cNvSpPr/>
            <p:nvPr/>
          </p:nvSpPr>
          <p:spPr bwMode="auto">
            <a:xfrm>
              <a:off x="0" y="0"/>
              <a:ext cx="1989671" cy="3090597"/>
            </a:xfrm>
            <a:custGeom>
              <a:avLst/>
              <a:gdLst/>
              <a:ahLst/>
              <a:cxnLst/>
              <a:rect l="l" t="t" r="r" b="b"/>
              <a:pathLst>
                <a:path w="1989671" h="3090597" extrusionOk="0">
                  <a:moveTo>
                    <a:pt x="0" y="0"/>
                  </a:moveTo>
                  <a:lnTo>
                    <a:pt x="1989671" y="0"/>
                  </a:lnTo>
                  <a:lnTo>
                    <a:pt x="1989671" y="3090597"/>
                  </a:lnTo>
                  <a:lnTo>
                    <a:pt x="0" y="3090597"/>
                  </a:lnTo>
                  <a:close/>
                </a:path>
              </a:pathLst>
            </a:custGeom>
            <a:solidFill>
              <a:srgbClr val="EAEBE9"/>
            </a:solidFill>
          </p:spPr>
        </p:sp>
        <p:sp>
          <p:nvSpPr>
            <p:cNvPr id="4" name="TextBox 4"/>
            <p:cNvSpPr txBox="1"/>
            <p:nvPr/>
          </p:nvSpPr>
          <p:spPr bwMode="auto">
            <a:xfrm>
              <a:off x="0" y="-47625"/>
              <a:ext cx="1989671" cy="3138222"/>
            </a:xfrm>
            <a:prstGeom prst="rect">
              <a:avLst/>
            </a:prstGeom>
            <a:grpFill/>
          </p:spPr>
          <p:txBody>
            <a:bodyPr lIns="50800" tIns="50800" rIns="50800" bIns="50800" rtlCol="0" anchor="ctr"/>
            <a:lstStyle/>
            <a:p>
              <a:pPr algn="ctr">
                <a:lnSpc>
                  <a:spcPts val="3012"/>
                </a:lnSpc>
                <a:defRPr/>
              </a:pPr>
              <a:endParaRPr/>
            </a:p>
          </p:txBody>
        </p:sp>
      </p:grpSp>
      <p:grpSp>
        <p:nvGrpSpPr>
          <p:cNvPr id="65468387" name="Group 5"/>
          <p:cNvGrpSpPr/>
          <p:nvPr/>
        </p:nvGrpSpPr>
        <p:grpSpPr bwMode="auto">
          <a:xfrm>
            <a:off x="17022970" y="792370"/>
            <a:ext cx="472661" cy="472661"/>
            <a:chOff x="0" y="0"/>
            <a:chExt cx="812800" cy="812800"/>
          </a:xfrm>
        </p:grpSpPr>
        <p:sp>
          <p:nvSpPr>
            <p:cNvPr id="6" name="Freeform 6"/>
            <p:cNvSpPr/>
            <p:nvPr/>
          </p:nvSpPr>
          <p:spPr bwMode="auto">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7" name="TextBox 7"/>
            <p:cNvSpPr txBox="1"/>
            <p:nvPr/>
          </p:nvSpPr>
          <p:spPr bwMode="auto">
            <a:xfrm>
              <a:off x="76200" y="28575"/>
              <a:ext cx="660400" cy="708025"/>
            </a:xfrm>
            <a:prstGeom prst="rect">
              <a:avLst/>
            </a:prstGeom>
            <a:grpFill/>
          </p:spPr>
          <p:txBody>
            <a:bodyPr lIns="50800" tIns="50800" rIns="50800" bIns="50800" rtlCol="0" anchor="ctr"/>
            <a:lstStyle/>
            <a:p>
              <a:pPr algn="ctr">
                <a:lnSpc>
                  <a:spcPts val="3012"/>
                </a:lnSpc>
                <a:defRPr/>
              </a:pPr>
              <a:endParaRPr/>
            </a:p>
          </p:txBody>
        </p:sp>
      </p:grpSp>
      <p:grpSp>
        <p:nvGrpSpPr>
          <p:cNvPr id="1588385511" name="Group 8"/>
          <p:cNvGrpSpPr/>
          <p:nvPr/>
        </p:nvGrpSpPr>
        <p:grpSpPr bwMode="auto">
          <a:xfrm>
            <a:off x="15479920" y="8387800"/>
            <a:ext cx="3086100" cy="3086100"/>
            <a:chOff x="0" y="0"/>
            <a:chExt cx="812800" cy="812800"/>
          </a:xfrm>
        </p:grpSpPr>
        <p:sp>
          <p:nvSpPr>
            <p:cNvPr id="9" name="Freeform 9"/>
            <p:cNvSpPr/>
            <p:nvPr/>
          </p:nvSpPr>
          <p:spPr bwMode="auto">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solidFill>
              <a:srgbClr val="EAEBE9"/>
            </a:solidFill>
          </p:spPr>
        </p:sp>
        <p:sp>
          <p:nvSpPr>
            <p:cNvPr id="10" name="TextBox 10"/>
            <p:cNvSpPr txBox="1"/>
            <p:nvPr/>
          </p:nvSpPr>
          <p:spPr bwMode="auto">
            <a:xfrm>
              <a:off x="0" y="-47625"/>
              <a:ext cx="812800" cy="860425"/>
            </a:xfrm>
            <a:prstGeom prst="rect">
              <a:avLst/>
            </a:prstGeom>
            <a:grpFill/>
          </p:spPr>
          <p:txBody>
            <a:bodyPr lIns="50800" tIns="50800" rIns="50800" bIns="50800" rtlCol="0" anchor="ctr"/>
            <a:lstStyle/>
            <a:p>
              <a:pPr algn="ctr">
                <a:lnSpc>
                  <a:spcPts val="3012"/>
                </a:lnSpc>
                <a:defRPr/>
              </a:pPr>
              <a:endParaRPr/>
            </a:p>
          </p:txBody>
        </p:sp>
      </p:grpSp>
      <p:sp>
        <p:nvSpPr>
          <p:cNvPr id="1194010989" name="Freeform 11"/>
          <p:cNvSpPr/>
          <p:nvPr/>
        </p:nvSpPr>
        <p:spPr bwMode="auto">
          <a:xfrm>
            <a:off x="2639029" y="2373403"/>
            <a:ext cx="12840890" cy="7913597"/>
          </a:xfrm>
          <a:custGeom>
            <a:avLst/>
            <a:gdLst/>
            <a:ahLst/>
            <a:cxnLst/>
            <a:rect l="l" t="t" r="r" b="b"/>
            <a:pathLst>
              <a:path w="12840890" h="7913597" extrusionOk="0">
                <a:moveTo>
                  <a:pt x="0" y="0"/>
                </a:moveTo>
                <a:lnTo>
                  <a:pt x="12840891" y="0"/>
                </a:lnTo>
                <a:lnTo>
                  <a:pt x="12840891" y="7913597"/>
                </a:lnTo>
                <a:lnTo>
                  <a:pt x="0" y="7913597"/>
                </a:lnTo>
                <a:lnTo>
                  <a:pt x="0" y="0"/>
                </a:lnTo>
                <a:close/>
              </a:path>
            </a:pathLst>
          </a:custGeom>
          <a:blipFill rotWithShape="1">
            <a:blip r:embed="rId3"/>
            <a:stretch>
              <a:fillRect t="-26047" b="-36216"/>
            </a:stretch>
          </a:blipFill>
        </p:spPr>
      </p:sp>
      <p:sp>
        <p:nvSpPr>
          <p:cNvPr id="130204330" name="TextBox 13"/>
          <p:cNvSpPr txBox="1"/>
          <p:nvPr/>
        </p:nvSpPr>
        <p:spPr bwMode="auto">
          <a:xfrm>
            <a:off x="7578235" y="620920"/>
            <a:ext cx="2336800" cy="1566544"/>
          </a:xfrm>
          <a:prstGeom prst="rect">
            <a:avLst/>
          </a:prstGeom>
        </p:spPr>
        <p:txBody>
          <a:bodyPr lIns="0" tIns="0" rIns="0" bIns="0" rtlCol="0" anchor="t">
            <a:spAutoFit/>
          </a:bodyPr>
          <a:lstStyle/>
          <a:p>
            <a:pPr algn="ctr">
              <a:lnSpc>
                <a:spcPts val="12880"/>
              </a:lnSpc>
              <a:defRPr/>
            </a:pPr>
            <a:r>
              <a:rPr lang="en-US" sz="9200">
                <a:solidFill>
                  <a:srgbClr val="5F6F52"/>
                </a:solidFill>
                <a:latin typeface="Noto Sans"/>
                <a:ea typeface="Noto Sans"/>
                <a:cs typeface="Noto Sans"/>
              </a:rPr>
              <a:t>現状</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864421683" name="Group 2"/>
          <p:cNvGrpSpPr/>
          <p:nvPr/>
        </p:nvGrpSpPr>
        <p:grpSpPr bwMode="auto">
          <a:xfrm>
            <a:off x="-1359220" y="2391259"/>
            <a:ext cx="21006441" cy="7373283"/>
            <a:chOff x="0" y="0"/>
            <a:chExt cx="5532561" cy="1941935"/>
          </a:xfrm>
        </p:grpSpPr>
        <p:sp>
          <p:nvSpPr>
            <p:cNvPr id="3" name="Freeform 3"/>
            <p:cNvSpPr/>
            <p:nvPr/>
          </p:nvSpPr>
          <p:spPr bwMode="auto">
            <a:xfrm>
              <a:off x="0" y="0"/>
              <a:ext cx="5532559" cy="1941935"/>
            </a:xfrm>
            <a:custGeom>
              <a:avLst/>
              <a:gdLst/>
              <a:ahLst/>
              <a:cxnLst/>
              <a:rect l="l" t="t" r="r" b="b"/>
              <a:pathLst>
                <a:path w="5532560" h="1941935" extrusionOk="0">
                  <a:moveTo>
                    <a:pt x="0" y="0"/>
                  </a:moveTo>
                  <a:lnTo>
                    <a:pt x="5532560" y="0"/>
                  </a:lnTo>
                  <a:lnTo>
                    <a:pt x="5532560" y="1941935"/>
                  </a:lnTo>
                  <a:lnTo>
                    <a:pt x="0" y="1941935"/>
                  </a:lnTo>
                  <a:close/>
                </a:path>
              </a:pathLst>
            </a:custGeom>
            <a:solidFill>
              <a:srgbClr val="EAEBE9"/>
            </a:solidFill>
          </p:spPr>
        </p:sp>
        <p:sp>
          <p:nvSpPr>
            <p:cNvPr id="4" name="TextBox 4"/>
            <p:cNvSpPr txBox="1"/>
            <p:nvPr/>
          </p:nvSpPr>
          <p:spPr bwMode="auto">
            <a:xfrm>
              <a:off x="0" y="-47625"/>
              <a:ext cx="5532561" cy="1989560"/>
            </a:xfrm>
            <a:prstGeom prst="rect">
              <a:avLst/>
            </a:prstGeom>
            <a:grpFill/>
          </p:spPr>
          <p:txBody>
            <a:bodyPr lIns="50800" tIns="50800" rIns="50800" bIns="50800" rtlCol="0" anchor="ctr"/>
            <a:lstStyle/>
            <a:p>
              <a:pPr algn="ctr">
                <a:lnSpc>
                  <a:spcPts val="3012"/>
                </a:lnSpc>
                <a:defRPr/>
              </a:pPr>
              <a:endParaRPr/>
            </a:p>
          </p:txBody>
        </p:sp>
      </p:grpSp>
      <p:grpSp>
        <p:nvGrpSpPr>
          <p:cNvPr id="503480684" name="Group 5"/>
          <p:cNvGrpSpPr/>
          <p:nvPr/>
        </p:nvGrpSpPr>
        <p:grpSpPr bwMode="auto">
          <a:xfrm>
            <a:off x="17022970" y="792370"/>
            <a:ext cx="472661" cy="472661"/>
            <a:chOff x="0" y="0"/>
            <a:chExt cx="812800" cy="812800"/>
          </a:xfrm>
        </p:grpSpPr>
        <p:sp>
          <p:nvSpPr>
            <p:cNvPr id="6" name="Freeform 6"/>
            <p:cNvSpPr/>
            <p:nvPr/>
          </p:nvSpPr>
          <p:spPr bwMode="auto">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7" name="TextBox 7"/>
            <p:cNvSpPr txBox="1"/>
            <p:nvPr/>
          </p:nvSpPr>
          <p:spPr bwMode="auto">
            <a:xfrm>
              <a:off x="76200" y="28575"/>
              <a:ext cx="660400" cy="708025"/>
            </a:xfrm>
            <a:prstGeom prst="rect">
              <a:avLst/>
            </a:prstGeom>
            <a:grpFill/>
          </p:spPr>
          <p:txBody>
            <a:bodyPr lIns="50800" tIns="50800" rIns="50800" bIns="50800" rtlCol="0" anchor="ctr"/>
            <a:lstStyle/>
            <a:p>
              <a:pPr algn="ctr">
                <a:lnSpc>
                  <a:spcPts val="3012"/>
                </a:lnSpc>
                <a:defRPr/>
              </a:pPr>
              <a:endParaRPr/>
            </a:p>
          </p:txBody>
        </p:sp>
      </p:grpSp>
      <p:sp>
        <p:nvSpPr>
          <p:cNvPr id="1801107691" name="Freeform 8"/>
          <p:cNvSpPr/>
          <p:nvPr/>
        </p:nvSpPr>
        <p:spPr bwMode="auto">
          <a:xfrm>
            <a:off x="2236877" y="2391259"/>
            <a:ext cx="13427500" cy="7373283"/>
          </a:xfrm>
          <a:custGeom>
            <a:avLst/>
            <a:gdLst/>
            <a:ahLst/>
            <a:cxnLst/>
            <a:rect l="l" t="t" r="r" b="b"/>
            <a:pathLst>
              <a:path w="13427500" h="7373283" extrusionOk="0">
                <a:moveTo>
                  <a:pt x="0" y="0"/>
                </a:moveTo>
                <a:lnTo>
                  <a:pt x="13427500" y="0"/>
                </a:lnTo>
                <a:lnTo>
                  <a:pt x="13427500" y="7373283"/>
                </a:lnTo>
                <a:lnTo>
                  <a:pt x="0" y="7373283"/>
                </a:lnTo>
                <a:lnTo>
                  <a:pt x="0" y="0"/>
                </a:lnTo>
                <a:close/>
              </a:path>
            </a:pathLst>
          </a:custGeom>
          <a:blipFill rotWithShape="1">
            <a:blip r:embed="rId3"/>
            <a:stretch>
              <a:fillRect l="-289" r="-465"/>
            </a:stretch>
          </a:blipFill>
        </p:spPr>
      </p:sp>
      <p:sp>
        <p:nvSpPr>
          <p:cNvPr id="1365680712" name="TextBox 9"/>
          <p:cNvSpPr txBox="1"/>
          <p:nvPr/>
        </p:nvSpPr>
        <p:spPr bwMode="auto">
          <a:xfrm>
            <a:off x="2483742" y="611395"/>
            <a:ext cx="12647557" cy="1431867"/>
          </a:xfrm>
          <a:prstGeom prst="rect">
            <a:avLst/>
          </a:prstGeom>
        </p:spPr>
        <p:txBody>
          <a:bodyPr lIns="0" tIns="0" rIns="0" bIns="0" rtlCol="0" anchor="t">
            <a:spAutoFit/>
          </a:bodyPr>
          <a:lstStyle/>
          <a:p>
            <a:pPr marL="0" lvl="0" indent="0" algn="ctr">
              <a:lnSpc>
                <a:spcPts val="13050"/>
              </a:lnSpc>
              <a:spcBef>
                <a:spcPts val="0"/>
              </a:spcBef>
              <a:defRPr/>
            </a:pPr>
            <a:r>
              <a:rPr lang="en-US" sz="9300" dirty="0" err="1">
                <a:solidFill>
                  <a:srgbClr val="465739"/>
                </a:solidFill>
                <a:latin typeface="+mj-ea"/>
                <a:ea typeface="+mj-ea"/>
                <a:cs typeface="Glacial Indifference"/>
              </a:rPr>
              <a:t>影響</a:t>
            </a:r>
            <a:endParaRPr dirty="0">
              <a:latin typeface="+mj-ea"/>
              <a:ea typeface="+mj-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332271863" name="Group 2"/>
          <p:cNvGrpSpPr/>
          <p:nvPr/>
        </p:nvGrpSpPr>
        <p:grpSpPr bwMode="auto">
          <a:xfrm>
            <a:off x="-2170889" y="-1866900"/>
            <a:ext cx="15656482" cy="15656482"/>
            <a:chOff x="0" y="0"/>
            <a:chExt cx="812800" cy="812800"/>
          </a:xfrm>
        </p:grpSpPr>
        <p:sp>
          <p:nvSpPr>
            <p:cNvPr id="3" name="Freeform 3"/>
            <p:cNvSpPr/>
            <p:nvPr/>
          </p:nvSpPr>
          <p:spPr bwMode="auto">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EBE9"/>
            </a:solidFill>
          </p:spPr>
        </p:sp>
        <p:sp>
          <p:nvSpPr>
            <p:cNvPr id="4" name="TextBox 4"/>
            <p:cNvSpPr txBox="1"/>
            <p:nvPr/>
          </p:nvSpPr>
          <p:spPr bwMode="auto">
            <a:xfrm>
              <a:off x="76200" y="28575"/>
              <a:ext cx="660400" cy="708025"/>
            </a:xfrm>
            <a:prstGeom prst="rect">
              <a:avLst/>
            </a:prstGeom>
            <a:grpFill/>
          </p:spPr>
          <p:txBody>
            <a:bodyPr lIns="50800" tIns="50800" rIns="50800" bIns="50800" rtlCol="0" anchor="ctr"/>
            <a:lstStyle/>
            <a:p>
              <a:pPr algn="ctr">
                <a:lnSpc>
                  <a:spcPts val="3012"/>
                </a:lnSpc>
                <a:defRPr/>
              </a:pPr>
              <a:endParaRPr/>
            </a:p>
          </p:txBody>
        </p:sp>
      </p:grpSp>
      <p:grpSp>
        <p:nvGrpSpPr>
          <p:cNvPr id="1551705987" name="Group 5"/>
          <p:cNvGrpSpPr/>
          <p:nvPr/>
        </p:nvGrpSpPr>
        <p:grpSpPr bwMode="auto">
          <a:xfrm>
            <a:off x="17022970" y="792370"/>
            <a:ext cx="472661" cy="472661"/>
            <a:chOff x="0" y="0"/>
            <a:chExt cx="812800" cy="812800"/>
          </a:xfrm>
        </p:grpSpPr>
        <p:sp>
          <p:nvSpPr>
            <p:cNvPr id="6" name="Freeform 6"/>
            <p:cNvSpPr/>
            <p:nvPr/>
          </p:nvSpPr>
          <p:spPr bwMode="auto">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7" name="TextBox 7"/>
            <p:cNvSpPr txBox="1"/>
            <p:nvPr/>
          </p:nvSpPr>
          <p:spPr bwMode="auto">
            <a:xfrm>
              <a:off x="76200" y="28575"/>
              <a:ext cx="660400" cy="708025"/>
            </a:xfrm>
            <a:prstGeom prst="rect">
              <a:avLst/>
            </a:prstGeom>
            <a:grpFill/>
          </p:spPr>
          <p:txBody>
            <a:bodyPr lIns="50800" tIns="50800" rIns="50800" bIns="50800" rtlCol="0" anchor="ctr"/>
            <a:lstStyle/>
            <a:p>
              <a:pPr algn="ctr">
                <a:lnSpc>
                  <a:spcPts val="3012"/>
                </a:lnSpc>
                <a:defRPr/>
              </a:pPr>
              <a:endParaRPr/>
            </a:p>
          </p:txBody>
        </p:sp>
      </p:grpSp>
      <p:sp>
        <p:nvSpPr>
          <p:cNvPr id="174230501" name="AutoShape 10"/>
          <p:cNvSpPr/>
          <p:nvPr/>
        </p:nvSpPr>
        <p:spPr bwMode="auto">
          <a:xfrm>
            <a:off x="11615122" y="8322576"/>
            <a:ext cx="0" cy="2610617"/>
          </a:xfrm>
          <a:prstGeom prst="line">
            <a:avLst/>
          </a:prstGeom>
          <a:ln w="123825" cap="flat">
            <a:solidFill>
              <a:srgbClr val="BBC8B1"/>
            </a:solidFill>
            <a:prstDash val="sysDot"/>
            <a:headEnd type="none" w="sm" len="sm"/>
            <a:tailEnd type="none" w="sm" len="sm"/>
          </a:ln>
        </p:spPr>
      </p:sp>
      <p:sp>
        <p:nvSpPr>
          <p:cNvPr id="1182092948" name="TextBox 11"/>
          <p:cNvSpPr txBox="1"/>
          <p:nvPr/>
        </p:nvSpPr>
        <p:spPr bwMode="auto">
          <a:xfrm>
            <a:off x="2685165" y="611394"/>
            <a:ext cx="9699802" cy="1431867"/>
          </a:xfrm>
          <a:prstGeom prst="rect">
            <a:avLst/>
          </a:prstGeom>
        </p:spPr>
        <p:txBody>
          <a:bodyPr lIns="0" tIns="0" rIns="0" bIns="0" rtlCol="0" anchor="t">
            <a:spAutoFit/>
          </a:bodyPr>
          <a:lstStyle/>
          <a:p>
            <a:pPr marL="0" lvl="0" indent="0" algn="l">
              <a:lnSpc>
                <a:spcPts val="13050"/>
              </a:lnSpc>
              <a:spcBef>
                <a:spcPts val="0"/>
              </a:spcBef>
              <a:defRPr/>
            </a:pPr>
            <a:r>
              <a:rPr lang="en-US" sz="9300" b="1" dirty="0" err="1">
                <a:solidFill>
                  <a:srgbClr val="465739"/>
                </a:solidFill>
                <a:latin typeface="+mj-ea"/>
                <a:ea typeface="+mj-ea"/>
                <a:cs typeface="Glacial Indifference Bold"/>
              </a:rPr>
              <a:t>きっかけ</a:t>
            </a:r>
            <a:endParaRPr dirty="0">
              <a:latin typeface="+mj-ea"/>
              <a:ea typeface="+mj-ea"/>
            </a:endParaRPr>
          </a:p>
        </p:txBody>
      </p:sp>
      <p:grpSp>
        <p:nvGrpSpPr>
          <p:cNvPr id="1504794612" name="Group 16"/>
          <p:cNvGrpSpPr/>
          <p:nvPr/>
        </p:nvGrpSpPr>
        <p:grpSpPr bwMode="auto">
          <a:xfrm>
            <a:off x="11940540" y="2708910"/>
            <a:ext cx="111442" cy="108585"/>
            <a:chOff x="0" y="0"/>
            <a:chExt cx="148590" cy="144780"/>
          </a:xfrm>
        </p:grpSpPr>
        <p:sp>
          <p:nvSpPr>
            <p:cNvPr id="17" name="Freeform 17"/>
            <p:cNvSpPr/>
            <p:nvPr/>
          </p:nvSpPr>
          <p:spPr bwMode="auto">
            <a:xfrm>
              <a:off x="49280" y="49054"/>
              <a:ext cx="48510" cy="41056"/>
            </a:xfrm>
            <a:custGeom>
              <a:avLst/>
              <a:gdLst/>
              <a:ahLst/>
              <a:cxnLst/>
              <a:rect l="l" t="t" r="r" b="b"/>
              <a:pathLst>
                <a:path w="48510" h="41056" extrusionOk="0">
                  <a:moveTo>
                    <a:pt x="48510" y="14446"/>
                  </a:moveTo>
                  <a:cubicBezTo>
                    <a:pt x="26920" y="48736"/>
                    <a:pt x="6600" y="42386"/>
                    <a:pt x="1520" y="36036"/>
                  </a:cubicBezTo>
                  <a:cubicBezTo>
                    <a:pt x="-2290" y="28416"/>
                    <a:pt x="1520" y="6826"/>
                    <a:pt x="7870" y="1746"/>
                  </a:cubicBezTo>
                  <a:cubicBezTo>
                    <a:pt x="14220" y="-3334"/>
                    <a:pt x="42160" y="4286"/>
                    <a:pt x="42160" y="4286"/>
                  </a:cubicBezTo>
                </a:path>
              </a:pathLst>
            </a:custGeom>
            <a:solidFill>
              <a:srgbClr val="FFFFFF"/>
            </a:solidFill>
            <a:ln cap="sq">
              <a:noFill/>
              <a:prstDash val="solid"/>
              <a:miter/>
            </a:ln>
          </p:spPr>
        </p:sp>
      </p:grpSp>
      <p:sp>
        <p:nvSpPr>
          <p:cNvPr id="1379438884" name="テキスト ボックス 1379438883"/>
          <p:cNvSpPr txBox="1"/>
          <p:nvPr/>
        </p:nvSpPr>
        <p:spPr bwMode="auto">
          <a:xfrm>
            <a:off x="1147464" y="3369221"/>
            <a:ext cx="7996536" cy="536044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4800" b="0"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熱中症の深刻化を受け、負担軽減を目的に本研究を開始した</a:t>
            </a:r>
            <a:r>
              <a:rPr sz="4800" b="0"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rPr>
              <a:t>。</a:t>
            </a:r>
          </a:p>
          <a:p>
            <a:pPr>
              <a:defRPr/>
            </a:pPr>
            <a:endParaRPr sz="2800" dirty="0">
              <a:solidFill>
                <a:schemeClr val="accent3">
                  <a:lumMod val="50000"/>
                </a:schemeClr>
              </a:solidFill>
              <a:latin typeface="BIZ UDPゴシック" panose="020B0400000000000000" pitchFamily="50" charset="-128"/>
              <a:ea typeface="BIZ UDPゴシック" panose="020B0400000000000000" pitchFamily="50" charset="-128"/>
            </a:endParaRPr>
          </a:p>
          <a:p>
            <a:pPr>
              <a:defRPr/>
            </a:pPr>
            <a:r>
              <a:rPr sz="4800" b="0"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rPr>
              <a:t> </a:t>
            </a:r>
            <a:r>
              <a:rPr sz="4800" b="0"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患者数を予測するモデルを構築し、迅速な対応を支援する</a:t>
            </a:r>
            <a:r>
              <a:rPr sz="4800" b="0"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rPr>
              <a:t>。</a:t>
            </a:r>
          </a:p>
        </p:txBody>
      </p:sp>
      <p:pic>
        <p:nvPicPr>
          <p:cNvPr id="5" name="図 4" descr="ダイアグラム が含まれている画像&#10;&#10;AI によって生成されたコンテンツは間違っている可能性があります。">
            <a:extLst>
              <a:ext uri="{FF2B5EF4-FFF2-40B4-BE49-F238E27FC236}">
                <a16:creationId xmlns:a16="http://schemas.microsoft.com/office/drawing/2014/main" id="{C97E381F-0B09-413E-48BA-AF25625D17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9920" y="1380873"/>
            <a:ext cx="7689939" cy="83577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575528640" name="Group 14"/>
          <p:cNvGrpSpPr/>
          <p:nvPr/>
        </p:nvGrpSpPr>
        <p:grpSpPr bwMode="auto">
          <a:xfrm>
            <a:off x="422355" y="1550671"/>
            <a:ext cx="6217130" cy="6595607"/>
            <a:chOff x="0" y="0"/>
            <a:chExt cx="1637434" cy="1737114"/>
          </a:xfrm>
        </p:grpSpPr>
        <p:sp>
          <p:nvSpPr>
            <p:cNvPr id="15" name="Freeform 15"/>
            <p:cNvSpPr/>
            <p:nvPr/>
          </p:nvSpPr>
          <p:spPr bwMode="auto">
            <a:xfrm>
              <a:off x="0" y="0"/>
              <a:ext cx="1637434" cy="1737115"/>
            </a:xfrm>
            <a:custGeom>
              <a:avLst/>
              <a:gdLst/>
              <a:ahLst/>
              <a:cxnLst/>
              <a:rect l="l" t="t" r="r" b="b"/>
              <a:pathLst>
                <a:path w="1637434" h="1737115" extrusionOk="0">
                  <a:moveTo>
                    <a:pt x="0" y="0"/>
                  </a:moveTo>
                  <a:lnTo>
                    <a:pt x="1637434" y="0"/>
                  </a:lnTo>
                  <a:lnTo>
                    <a:pt x="1637434" y="1737115"/>
                  </a:lnTo>
                  <a:lnTo>
                    <a:pt x="0" y="1737115"/>
                  </a:lnTo>
                  <a:close/>
                </a:path>
              </a:pathLst>
            </a:custGeom>
            <a:solidFill>
              <a:srgbClr val="EAEBE9"/>
            </a:solidFill>
          </p:spPr>
        </p:sp>
        <p:sp>
          <p:nvSpPr>
            <p:cNvPr id="16" name="TextBox 16"/>
            <p:cNvSpPr txBox="1"/>
            <p:nvPr/>
          </p:nvSpPr>
          <p:spPr bwMode="auto">
            <a:xfrm>
              <a:off x="0" y="-47625"/>
              <a:ext cx="1637434" cy="1784739"/>
            </a:xfrm>
            <a:prstGeom prst="rect">
              <a:avLst/>
            </a:prstGeom>
            <a:grpFill/>
          </p:spPr>
          <p:txBody>
            <a:bodyPr lIns="50800" tIns="50800" rIns="50800" bIns="50800" rtlCol="0" anchor="ctr"/>
            <a:lstStyle/>
            <a:p>
              <a:pPr algn="ctr">
                <a:lnSpc>
                  <a:spcPts val="3665"/>
                </a:lnSpc>
                <a:defRPr/>
              </a:pPr>
              <a:endParaRPr/>
            </a:p>
          </p:txBody>
        </p:sp>
      </p:grpSp>
      <p:sp>
        <p:nvSpPr>
          <p:cNvPr id="1214973697" name="TextBox 26"/>
          <p:cNvSpPr txBox="1"/>
          <p:nvPr/>
        </p:nvSpPr>
        <p:spPr bwMode="auto">
          <a:xfrm>
            <a:off x="9776598" y="5117221"/>
            <a:ext cx="2631598" cy="519154"/>
          </a:xfrm>
          <a:prstGeom prst="rect">
            <a:avLst/>
          </a:prstGeom>
        </p:spPr>
        <p:txBody>
          <a:bodyPr lIns="0" tIns="0" rIns="0" bIns="0" rtlCol="0" anchor="t">
            <a:spAutoFit/>
          </a:bodyPr>
          <a:lstStyle/>
          <a:p>
            <a:pPr marL="0" lvl="0" indent="0" algn="l">
              <a:lnSpc>
                <a:spcPts val="4085"/>
              </a:lnSpc>
              <a:spcBef>
                <a:spcPts val="0"/>
              </a:spcBef>
              <a:defRPr/>
            </a:pPr>
            <a:endParaRPr/>
          </a:p>
        </p:txBody>
      </p:sp>
      <p:sp>
        <p:nvSpPr>
          <p:cNvPr id="729763332" name="TextBox 29"/>
          <p:cNvSpPr txBox="1"/>
          <p:nvPr/>
        </p:nvSpPr>
        <p:spPr bwMode="auto">
          <a:xfrm>
            <a:off x="6052970" y="-93872"/>
            <a:ext cx="6662014" cy="1156342"/>
          </a:xfrm>
          <a:prstGeom prst="rect">
            <a:avLst/>
          </a:prstGeom>
        </p:spPr>
        <p:txBody>
          <a:bodyPr lIns="0" tIns="0" rIns="0" bIns="0" rtlCol="0" anchor="t">
            <a:spAutoFit/>
          </a:bodyPr>
          <a:lstStyle/>
          <a:p>
            <a:pPr marL="0" lvl="0" indent="0" algn="ctr">
              <a:lnSpc>
                <a:spcPts val="11092"/>
              </a:lnSpc>
              <a:defRPr/>
            </a:pPr>
            <a:r>
              <a:rPr sz="4800" b="1" i="0" u="none" dirty="0" err="1">
                <a:solidFill>
                  <a:schemeClr val="accent3">
                    <a:lumMod val="50000"/>
                  </a:schemeClr>
                </a:solidFill>
                <a:latin typeface="+mj-ea"/>
                <a:ea typeface="+mj-ea"/>
                <a:cs typeface="Times New Roman"/>
              </a:rPr>
              <a:t>使用したデータ</a:t>
            </a:r>
            <a:endParaRPr dirty="0">
              <a:latin typeface="+mj-ea"/>
              <a:ea typeface="+mj-ea"/>
            </a:endParaRPr>
          </a:p>
        </p:txBody>
      </p:sp>
      <p:sp>
        <p:nvSpPr>
          <p:cNvPr id="395437243" name="TextBox 30"/>
          <p:cNvSpPr txBox="1"/>
          <p:nvPr/>
        </p:nvSpPr>
        <p:spPr bwMode="auto">
          <a:xfrm>
            <a:off x="964785" y="3564982"/>
            <a:ext cx="5394692" cy="3257302"/>
          </a:xfrm>
          <a:prstGeom prst="rect">
            <a:avLst/>
          </a:prstGeom>
        </p:spPr>
        <p:txBody>
          <a:bodyPr lIns="0" tIns="0" rIns="0" bIns="0" rtlCol="0" anchor="t">
            <a:spAutoFit/>
          </a:bodyPr>
          <a:lstStyle/>
          <a:p>
            <a:pPr marL="0" lvl="0" indent="0" algn="l">
              <a:lnSpc>
                <a:spcPts val="4250"/>
              </a:lnSpc>
              <a:spcBef>
                <a:spcPts val="0"/>
              </a:spcBef>
              <a:defRPr/>
            </a:pPr>
            <a:r>
              <a:rPr lang="en-US" sz="3600" dirty="0">
                <a:solidFill>
                  <a:schemeClr val="accent3">
                    <a:lumMod val="50000"/>
                  </a:schemeClr>
                </a:solidFill>
                <a:latin typeface="Glacial Indifference"/>
                <a:ea typeface="Glacial Indifference"/>
                <a:cs typeface="Glacial Indifference"/>
              </a:rPr>
              <a:t>2023-2025熱中症搬送者数</a:t>
            </a:r>
          </a:p>
          <a:p>
            <a:pPr marL="0" lvl="0" indent="0" algn="l">
              <a:lnSpc>
                <a:spcPts val="4250"/>
              </a:lnSpc>
              <a:spcBef>
                <a:spcPts val="0"/>
              </a:spcBef>
              <a:defRPr/>
            </a:pPr>
            <a:r>
              <a:rPr lang="ja-JP" altLang="en-US" sz="3600" dirty="0">
                <a:solidFill>
                  <a:schemeClr val="accent3">
                    <a:lumMod val="50000"/>
                  </a:schemeClr>
                </a:solidFill>
                <a:latin typeface="Glacial Indifference"/>
                <a:ea typeface="Glacial Indifference"/>
                <a:cs typeface="Glacial Indifference"/>
              </a:rPr>
              <a:t>　　　　</a:t>
            </a:r>
            <a:r>
              <a:rPr lang="en-US" sz="3600" dirty="0" err="1">
                <a:solidFill>
                  <a:schemeClr val="accent3">
                    <a:lumMod val="50000"/>
                  </a:schemeClr>
                </a:solidFill>
                <a:latin typeface="Glacial Indifference"/>
                <a:ea typeface="Glacial Indifference"/>
                <a:cs typeface="Glacial Indifference"/>
              </a:rPr>
              <a:t>消防庁</a:t>
            </a:r>
            <a:endParaRPr sz="3600" dirty="0">
              <a:solidFill>
                <a:schemeClr val="accent3">
                  <a:lumMod val="50000"/>
                </a:schemeClr>
              </a:solidFill>
              <a:latin typeface="Glacial Indifference"/>
              <a:ea typeface="Glacial Indifference"/>
              <a:cs typeface="Glacial Indifference"/>
            </a:endParaRPr>
          </a:p>
          <a:p>
            <a:pPr marL="0" lvl="0" indent="0" algn="l">
              <a:lnSpc>
                <a:spcPts val="4249"/>
              </a:lnSpc>
              <a:spcBef>
                <a:spcPts val="0"/>
              </a:spcBef>
              <a:defRPr/>
            </a:pPr>
            <a:r>
              <a:rPr lang="en-US" sz="3600" dirty="0">
                <a:solidFill>
                  <a:schemeClr val="accent3">
                    <a:lumMod val="50000"/>
                  </a:schemeClr>
                </a:solidFill>
                <a:latin typeface="Glacial Indifference"/>
                <a:ea typeface="Glacial Indifference"/>
                <a:cs typeface="Glacial Indifference"/>
              </a:rPr>
              <a:t>　　　　</a:t>
            </a:r>
            <a:endParaRPr sz="3600" dirty="0">
              <a:solidFill>
                <a:schemeClr val="accent3">
                  <a:lumMod val="50000"/>
                </a:schemeClr>
              </a:solidFill>
              <a:latin typeface="Glacial Indifference"/>
              <a:ea typeface="Glacial Indifference"/>
              <a:cs typeface="Glacial Indifference"/>
            </a:endParaRPr>
          </a:p>
          <a:p>
            <a:pPr marL="0" lvl="0" indent="0" algn="l">
              <a:lnSpc>
                <a:spcPts val="4249"/>
              </a:lnSpc>
              <a:spcBef>
                <a:spcPts val="0"/>
              </a:spcBef>
              <a:defRPr/>
            </a:pPr>
            <a:endParaRPr sz="3600" dirty="0">
              <a:solidFill>
                <a:schemeClr val="accent3">
                  <a:lumMod val="50000"/>
                </a:schemeClr>
              </a:solidFill>
              <a:latin typeface="Glacial Indifference"/>
              <a:ea typeface="Glacial Indifference"/>
              <a:cs typeface="Glacial Indifference"/>
            </a:endParaRPr>
          </a:p>
          <a:p>
            <a:pPr marL="0" lvl="0" indent="0" algn="l">
              <a:lnSpc>
                <a:spcPts val="4249"/>
              </a:lnSpc>
              <a:spcBef>
                <a:spcPts val="0"/>
              </a:spcBef>
              <a:defRPr/>
            </a:pPr>
            <a:r>
              <a:rPr lang="en-US" sz="3600" dirty="0">
                <a:solidFill>
                  <a:schemeClr val="accent3">
                    <a:lumMod val="50000"/>
                  </a:schemeClr>
                </a:solidFill>
                <a:latin typeface="Glacial Indifference"/>
                <a:ea typeface="Glacial Indifference"/>
                <a:cs typeface="Glacial Indifference"/>
              </a:rPr>
              <a:t>2023-2025気象データ</a:t>
            </a:r>
            <a:endParaRPr sz="3600" dirty="0">
              <a:solidFill>
                <a:schemeClr val="accent3">
                  <a:lumMod val="50000"/>
                </a:schemeClr>
              </a:solidFill>
              <a:latin typeface="Glacial Indifference"/>
              <a:ea typeface="Glacial Indifference"/>
              <a:cs typeface="Glacial Indifference"/>
            </a:endParaRPr>
          </a:p>
          <a:p>
            <a:pPr marL="0" lvl="0" indent="0" algn="l">
              <a:lnSpc>
                <a:spcPts val="4249"/>
              </a:lnSpc>
              <a:spcBef>
                <a:spcPts val="0"/>
              </a:spcBef>
              <a:defRPr/>
            </a:pPr>
            <a:r>
              <a:rPr lang="en-US" sz="3600" dirty="0">
                <a:solidFill>
                  <a:schemeClr val="accent3">
                    <a:lumMod val="50000"/>
                  </a:schemeClr>
                </a:solidFill>
                <a:latin typeface="Glacial Indifference"/>
                <a:ea typeface="Glacial Indifference"/>
                <a:cs typeface="Glacial Indifference"/>
              </a:rPr>
              <a:t>　　　　</a:t>
            </a:r>
            <a:r>
              <a:rPr lang="en-US" sz="3600" dirty="0" err="1">
                <a:solidFill>
                  <a:schemeClr val="accent3">
                    <a:lumMod val="50000"/>
                  </a:schemeClr>
                </a:solidFill>
                <a:latin typeface="Glacial Indifference"/>
                <a:ea typeface="Glacial Indifference"/>
                <a:cs typeface="Glacial Indifference"/>
              </a:rPr>
              <a:t>気象庁</a:t>
            </a:r>
            <a:endParaRPr lang="en-US" sz="3050" dirty="0">
              <a:solidFill>
                <a:schemeClr val="accent3">
                  <a:lumMod val="50000"/>
                </a:schemeClr>
              </a:solidFill>
              <a:latin typeface="Glacial Indifference"/>
              <a:ea typeface="Glacial Indifference"/>
              <a:cs typeface="Glacial Indifference"/>
            </a:endParaRPr>
          </a:p>
        </p:txBody>
      </p:sp>
      <p:grpSp>
        <p:nvGrpSpPr>
          <p:cNvPr id="1110875055" name="Group 31"/>
          <p:cNvGrpSpPr/>
          <p:nvPr/>
        </p:nvGrpSpPr>
        <p:grpSpPr bwMode="auto">
          <a:xfrm rot="-5400000">
            <a:off x="1028700" y="9163260"/>
            <a:ext cx="472661" cy="472661"/>
            <a:chOff x="0" y="0"/>
            <a:chExt cx="812800" cy="812800"/>
          </a:xfrm>
        </p:grpSpPr>
        <p:sp>
          <p:nvSpPr>
            <p:cNvPr id="32" name="Freeform 32"/>
            <p:cNvSpPr/>
            <p:nvPr/>
          </p:nvSpPr>
          <p:spPr bwMode="auto">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33" name="TextBox 33"/>
            <p:cNvSpPr txBox="1"/>
            <p:nvPr/>
          </p:nvSpPr>
          <p:spPr bwMode="auto">
            <a:xfrm>
              <a:off x="76200" y="28575"/>
              <a:ext cx="660400" cy="708025"/>
            </a:xfrm>
            <a:prstGeom prst="rect">
              <a:avLst/>
            </a:prstGeom>
            <a:grpFill/>
          </p:spPr>
          <p:txBody>
            <a:bodyPr lIns="50800" tIns="50800" rIns="50800" bIns="50800" rtlCol="0" anchor="ctr"/>
            <a:lstStyle/>
            <a:p>
              <a:pPr algn="ctr">
                <a:lnSpc>
                  <a:spcPts val="3012"/>
                </a:lnSpc>
                <a:defRPr/>
              </a:pPr>
              <a:endParaRPr/>
            </a:p>
          </p:txBody>
        </p:sp>
      </p:grpSp>
      <p:sp>
        <p:nvSpPr>
          <p:cNvPr id="821283604" name="TextBox 34"/>
          <p:cNvSpPr txBox="1"/>
          <p:nvPr/>
        </p:nvSpPr>
        <p:spPr bwMode="auto">
          <a:xfrm>
            <a:off x="1728821" y="9039434"/>
            <a:ext cx="4572466" cy="558778"/>
          </a:xfrm>
          <a:prstGeom prst="rect">
            <a:avLst/>
          </a:prstGeom>
        </p:spPr>
        <p:txBody>
          <a:bodyPr lIns="0" tIns="0" rIns="0" bIns="0" rtlCol="0" anchor="t">
            <a:spAutoFit/>
          </a:bodyPr>
          <a:lstStyle/>
          <a:p>
            <a:pPr marL="0" lvl="0" indent="0" algn="l">
              <a:lnSpc>
                <a:spcPts val="4397"/>
              </a:lnSpc>
              <a:spcBef>
                <a:spcPts val="0"/>
              </a:spcBef>
              <a:defRPr/>
            </a:pPr>
            <a:endParaRPr/>
          </a:p>
        </p:txBody>
      </p:sp>
      <p:pic>
        <p:nvPicPr>
          <p:cNvPr id="66982628" name="図 66982627"/>
          <p:cNvPicPr>
            <a:picLocks noChangeAspect="1"/>
          </p:cNvPicPr>
          <p:nvPr/>
        </p:nvPicPr>
        <p:blipFill rotWithShape="1">
          <a:blip r:embed="rId3"/>
          <a:stretch/>
        </p:blipFill>
        <p:spPr bwMode="auto">
          <a:xfrm>
            <a:off x="11049011" y="4152660"/>
            <a:ext cx="4655625" cy="3712987"/>
          </a:xfrm>
          <a:prstGeom prst="rect">
            <a:avLst/>
          </a:prstGeom>
        </p:spPr>
      </p:pic>
      <p:sp>
        <p:nvSpPr>
          <p:cNvPr id="416832995" name="矢印: 右 416832994"/>
          <p:cNvSpPr/>
          <p:nvPr/>
        </p:nvSpPr>
        <p:spPr bwMode="auto">
          <a:xfrm>
            <a:off x="7283603" y="3501838"/>
            <a:ext cx="3501838" cy="756396"/>
          </a:xfrm>
          <a:prstGeom prst="rightArrow">
            <a:avLst>
              <a:gd name="adj1" fmla="val 50000"/>
              <a:gd name="adj2" fmla="val 50000"/>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sp>
      <p:sp>
        <p:nvSpPr>
          <p:cNvPr id="1970677518" name="矢印: 右 1970677517"/>
          <p:cNvSpPr/>
          <p:nvPr/>
        </p:nvSpPr>
        <p:spPr bwMode="auto">
          <a:xfrm>
            <a:off x="7311618" y="5658970"/>
            <a:ext cx="3473823" cy="700367"/>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sp>
      <p:pic>
        <p:nvPicPr>
          <p:cNvPr id="1289849944" name="図 1289849943"/>
          <p:cNvPicPr>
            <a:picLocks noChangeAspect="1"/>
          </p:cNvPicPr>
          <p:nvPr/>
        </p:nvPicPr>
        <p:blipFill rotWithShape="1">
          <a:blip r:embed="rId4"/>
          <a:stretch/>
        </p:blipFill>
        <p:spPr bwMode="auto">
          <a:xfrm>
            <a:off x="11345955" y="3381935"/>
            <a:ext cx="3812867" cy="876299"/>
          </a:xfrm>
          <a:prstGeom prst="rect">
            <a:avLst/>
          </a:prstGeom>
        </p:spPr>
      </p:pic>
      <p:sp>
        <p:nvSpPr>
          <p:cNvPr id="39599985" name="テキスト ボックス 39599984"/>
          <p:cNvSpPr txBox="1"/>
          <p:nvPr/>
        </p:nvSpPr>
        <p:spPr bwMode="auto">
          <a:xfrm>
            <a:off x="6770385" y="8647228"/>
            <a:ext cx="6019626"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sz="3600">
                <a:solidFill>
                  <a:schemeClr val="accent3">
                    <a:lumMod val="50000"/>
                  </a:schemeClr>
                </a:solidFill>
              </a:rPr>
              <a:t>信頼性が高い</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3621876" name="AutoShape 13"/>
          <p:cNvSpPr/>
          <p:nvPr/>
        </p:nvSpPr>
        <p:spPr bwMode="auto">
          <a:xfrm>
            <a:off x="11940234" y="1257324"/>
            <a:ext cx="636116" cy="0"/>
          </a:xfrm>
          <a:prstGeom prst="line">
            <a:avLst/>
          </a:prstGeom>
          <a:ln w="38100" cap="flat">
            <a:solidFill>
              <a:srgbClr val="465739"/>
            </a:solidFill>
            <a:prstDash val="solid"/>
            <a:headEnd type="none" w="sm" len="sm"/>
            <a:tailEnd type="arrow" w="med" len="sm"/>
          </a:ln>
        </p:spPr>
        <p:txBody>
          <a:bodyPr/>
          <a:lstStyle/>
          <a:p>
            <a:endParaRPr lang="ja-JP" altLang="en-US" dirty="0"/>
          </a:p>
        </p:txBody>
      </p:sp>
      <p:sp>
        <p:nvSpPr>
          <p:cNvPr id="1953507348" name="TextBox 17"/>
          <p:cNvSpPr txBox="1"/>
          <p:nvPr/>
        </p:nvSpPr>
        <p:spPr bwMode="auto">
          <a:xfrm>
            <a:off x="290952" y="4021206"/>
            <a:ext cx="7171987" cy="1447319"/>
          </a:xfrm>
          <a:prstGeom prst="rect">
            <a:avLst/>
          </a:prstGeom>
        </p:spPr>
        <p:txBody>
          <a:bodyPr lIns="0" tIns="0" rIns="0" bIns="0" rtlCol="0" anchor="t">
            <a:spAutoFit/>
          </a:bodyPr>
          <a:lstStyle/>
          <a:p>
            <a:pPr marL="0" lvl="0" indent="0" algn="ctr">
              <a:lnSpc>
                <a:spcPts val="12671"/>
              </a:lnSpc>
              <a:spcBef>
                <a:spcPts val="0"/>
              </a:spcBef>
              <a:defRPr/>
            </a:pPr>
            <a:r>
              <a:rPr lang="en-US" sz="7200" b="1" dirty="0" err="1">
                <a:solidFill>
                  <a:srgbClr val="465739"/>
                </a:solidFill>
                <a:latin typeface="Glacial Indifference Bold"/>
                <a:ea typeface="Glacial Indifference Bold"/>
                <a:cs typeface="Glacial Indifference Bold"/>
              </a:rPr>
              <a:t>データの特徴</a:t>
            </a:r>
            <a:endParaRPr dirty="0"/>
          </a:p>
        </p:txBody>
      </p:sp>
      <p:sp>
        <p:nvSpPr>
          <p:cNvPr id="346813762" name="TextBox 21"/>
          <p:cNvSpPr txBox="1"/>
          <p:nvPr/>
        </p:nvSpPr>
        <p:spPr bwMode="auto">
          <a:xfrm>
            <a:off x="13030200" y="713487"/>
            <a:ext cx="4970573" cy="1803759"/>
          </a:xfrm>
          <a:prstGeom prst="rect">
            <a:avLst/>
          </a:prstGeom>
        </p:spPr>
        <p:txBody>
          <a:bodyPr lIns="0" tIns="0" rIns="0" bIns="0" rtlCol="0" anchor="t">
            <a:spAutoFit/>
          </a:bodyPr>
          <a:lstStyle/>
          <a:p>
            <a:pPr marL="0" lvl="0" indent="0" algn="ctr">
              <a:lnSpc>
                <a:spcPts val="3550"/>
              </a:lnSpc>
              <a:spcBef>
                <a:spcPts val="0"/>
              </a:spcBef>
              <a:defRPr/>
            </a:pPr>
            <a:r>
              <a:rPr sz="2400" b="0" i="0" u="none" dirty="0" err="1">
                <a:solidFill>
                  <a:schemeClr val="accent3">
                    <a:lumMod val="50000"/>
                  </a:schemeClr>
                </a:solidFill>
                <a:latin typeface="Times New Roman"/>
                <a:ea typeface="Times New Roman"/>
                <a:cs typeface="Times New Roman"/>
              </a:rPr>
              <a:t>発生件数は夏季に増加し、他季節に減少する明確な季節変動を持つ</a:t>
            </a:r>
            <a:r>
              <a:rPr sz="2400" b="0" i="0" u="none" dirty="0">
                <a:solidFill>
                  <a:schemeClr val="accent3">
                    <a:lumMod val="50000"/>
                  </a:schemeClr>
                </a:solidFill>
                <a:latin typeface="Times New Roman"/>
                <a:ea typeface="Times New Roman"/>
                <a:cs typeface="Times New Roman"/>
              </a:rPr>
              <a:t>。</a:t>
            </a:r>
            <a:br>
              <a:rPr sz="2400" b="0" i="0" u="none" dirty="0">
                <a:solidFill>
                  <a:schemeClr val="accent3">
                    <a:lumMod val="50000"/>
                  </a:schemeClr>
                </a:solidFill>
                <a:latin typeface="Times New Roman"/>
                <a:ea typeface="Times New Roman"/>
                <a:cs typeface="Times New Roman"/>
              </a:rPr>
            </a:br>
            <a:r>
              <a:rPr sz="2400" b="0" i="0" u="none" dirty="0">
                <a:solidFill>
                  <a:schemeClr val="accent3">
                    <a:lumMod val="50000"/>
                  </a:schemeClr>
                </a:solidFill>
                <a:latin typeface="Times New Roman"/>
                <a:ea typeface="Times New Roman"/>
                <a:cs typeface="Times New Roman"/>
              </a:rPr>
              <a:t> </a:t>
            </a:r>
            <a:r>
              <a:rPr sz="2400" b="0" i="0" u="none" dirty="0" err="1">
                <a:solidFill>
                  <a:schemeClr val="accent3">
                    <a:lumMod val="50000"/>
                  </a:schemeClr>
                </a:solidFill>
                <a:latin typeface="Times New Roman"/>
                <a:ea typeface="Times New Roman"/>
                <a:cs typeface="Times New Roman"/>
              </a:rPr>
              <a:t>曜日ごとの傾向も考慮する必要がある</a:t>
            </a:r>
            <a:endParaRPr dirty="0"/>
          </a:p>
        </p:txBody>
      </p:sp>
      <p:grpSp>
        <p:nvGrpSpPr>
          <p:cNvPr id="192101154" name="Group 22"/>
          <p:cNvGrpSpPr/>
          <p:nvPr/>
        </p:nvGrpSpPr>
        <p:grpSpPr bwMode="auto">
          <a:xfrm rot="-5400000">
            <a:off x="1028700" y="9163260"/>
            <a:ext cx="472661" cy="472661"/>
            <a:chOff x="0" y="0"/>
            <a:chExt cx="812800" cy="812800"/>
          </a:xfrm>
        </p:grpSpPr>
        <p:sp>
          <p:nvSpPr>
            <p:cNvPr id="23" name="Freeform 23"/>
            <p:cNvSpPr/>
            <p:nvPr/>
          </p:nvSpPr>
          <p:spPr bwMode="auto">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bwMode="auto">
            <a:xfrm>
              <a:off x="76200" y="28575"/>
              <a:ext cx="660400" cy="708025"/>
            </a:xfrm>
            <a:prstGeom prst="rect">
              <a:avLst/>
            </a:prstGeom>
            <a:grpFill/>
          </p:spPr>
          <p:txBody>
            <a:bodyPr lIns="50800" tIns="50800" rIns="50800" bIns="50800" rtlCol="0" anchor="ctr"/>
            <a:lstStyle/>
            <a:p>
              <a:pPr algn="ctr">
                <a:lnSpc>
                  <a:spcPts val="3012"/>
                </a:lnSpc>
                <a:defRPr/>
              </a:pPr>
              <a:endParaRPr/>
            </a:p>
          </p:txBody>
        </p:sp>
      </p:grpSp>
      <p:sp>
        <p:nvSpPr>
          <p:cNvPr id="1008248022" name="TextBox 25"/>
          <p:cNvSpPr txBox="1"/>
          <p:nvPr/>
        </p:nvSpPr>
        <p:spPr bwMode="auto">
          <a:xfrm>
            <a:off x="1728821" y="9039434"/>
            <a:ext cx="4572466" cy="558778"/>
          </a:xfrm>
          <a:prstGeom prst="rect">
            <a:avLst/>
          </a:prstGeom>
        </p:spPr>
        <p:txBody>
          <a:bodyPr lIns="0" tIns="0" rIns="0" bIns="0" rtlCol="0" anchor="t">
            <a:spAutoFit/>
          </a:bodyPr>
          <a:lstStyle/>
          <a:p>
            <a:pPr marL="0" lvl="0" indent="0" algn="l">
              <a:lnSpc>
                <a:spcPts val="4397"/>
              </a:lnSpc>
              <a:spcBef>
                <a:spcPts val="0"/>
              </a:spcBef>
              <a:defRPr/>
            </a:pPr>
            <a:endParaRPr/>
          </a:p>
        </p:txBody>
      </p:sp>
      <p:sp>
        <p:nvSpPr>
          <p:cNvPr id="1335834658" name="Freeform 3"/>
          <p:cNvSpPr/>
          <p:nvPr/>
        </p:nvSpPr>
        <p:spPr bwMode="auto">
          <a:xfrm>
            <a:off x="7462939" y="3419904"/>
            <a:ext cx="4477295" cy="1094029"/>
          </a:xfrm>
          <a:custGeom>
            <a:avLst/>
            <a:gdLst/>
            <a:ahLst/>
            <a:cxnLst/>
            <a:rect l="l" t="t" r="r" b="b"/>
            <a:pathLst>
              <a:path w="1179205" h="288140" extrusionOk="0">
                <a:moveTo>
                  <a:pt x="0" y="0"/>
                </a:moveTo>
                <a:lnTo>
                  <a:pt x="1179205" y="0"/>
                </a:lnTo>
                <a:lnTo>
                  <a:pt x="1179205" y="288140"/>
                </a:lnTo>
                <a:lnTo>
                  <a:pt x="0" y="288140"/>
                </a:lnTo>
                <a:close/>
              </a:path>
            </a:pathLst>
          </a:custGeom>
          <a:solidFill>
            <a:srgbClr val="BBC8B1"/>
          </a:solidFill>
        </p:spPr>
        <p:txBody>
          <a:bodyPr anchor="ctr"/>
          <a:lstStyle/>
          <a:p>
            <a:pPr algn="ctr">
              <a:defRPr/>
            </a:pPr>
            <a:r>
              <a:rPr sz="2600" b="0" i="0" u="none">
                <a:solidFill>
                  <a:srgbClr val="000000"/>
                </a:solidFill>
                <a:latin typeface="Times New Roman"/>
                <a:ea typeface="Times New Roman"/>
                <a:cs typeface="Times New Roman"/>
              </a:rPr>
              <a:t>非線形性</a:t>
            </a:r>
            <a:endParaRPr/>
          </a:p>
        </p:txBody>
      </p:sp>
      <p:sp>
        <p:nvSpPr>
          <p:cNvPr id="9" name="Freeform 9"/>
          <p:cNvSpPr/>
          <p:nvPr/>
        </p:nvSpPr>
        <p:spPr bwMode="auto">
          <a:xfrm>
            <a:off x="7462940" y="713487"/>
            <a:ext cx="4477294" cy="1068156"/>
          </a:xfrm>
          <a:custGeom>
            <a:avLst/>
            <a:gdLst/>
            <a:ahLst/>
            <a:cxnLst/>
            <a:rect l="l" t="t" r="r" b="b"/>
            <a:pathLst>
              <a:path w="1179205" h="288140" extrusionOk="0">
                <a:moveTo>
                  <a:pt x="0" y="0"/>
                </a:moveTo>
                <a:lnTo>
                  <a:pt x="1179205" y="0"/>
                </a:lnTo>
                <a:lnTo>
                  <a:pt x="1179205" y="288140"/>
                </a:lnTo>
                <a:lnTo>
                  <a:pt x="0" y="288140"/>
                </a:lnTo>
                <a:close/>
              </a:path>
            </a:pathLst>
          </a:custGeom>
          <a:solidFill>
            <a:srgbClr val="BBC8B1"/>
          </a:solidFill>
        </p:spPr>
        <p:txBody>
          <a:bodyPr anchor="ctr"/>
          <a:lstStyle/>
          <a:p>
            <a:pPr algn="ctr">
              <a:defRPr/>
            </a:pPr>
            <a:r>
              <a:rPr lang="en-US" sz="2600" b="0" i="0" u="none" strike="noStrike" cap="none" spc="0" dirty="0" err="1">
                <a:solidFill>
                  <a:srgbClr val="000000"/>
                </a:solidFill>
                <a:latin typeface="Times New Roman"/>
                <a:ea typeface="Times New Roman"/>
                <a:cs typeface="Times New Roman"/>
              </a:rPr>
              <a:t>季節性</a:t>
            </a:r>
            <a:endParaRPr dirty="0"/>
          </a:p>
        </p:txBody>
      </p:sp>
      <p:sp>
        <p:nvSpPr>
          <p:cNvPr id="951429277" name="AutoShape 13"/>
          <p:cNvSpPr/>
          <p:nvPr/>
        </p:nvSpPr>
        <p:spPr bwMode="auto">
          <a:xfrm>
            <a:off x="11940234" y="3963643"/>
            <a:ext cx="636115" cy="0"/>
          </a:xfrm>
          <a:prstGeom prst="line">
            <a:avLst/>
          </a:prstGeom>
          <a:ln w="38100" cap="flat">
            <a:solidFill>
              <a:srgbClr val="465739"/>
            </a:solidFill>
            <a:prstDash val="solid"/>
            <a:headEnd type="none" w="sm" len="sm"/>
            <a:tailEnd type="arrow" w="med" len="sm"/>
          </a:ln>
        </p:spPr>
      </p:sp>
      <p:sp>
        <p:nvSpPr>
          <p:cNvPr id="1020476221" name="テキスト ボックス 1020476220"/>
          <p:cNvSpPr txBox="1"/>
          <p:nvPr/>
        </p:nvSpPr>
        <p:spPr bwMode="auto">
          <a:xfrm>
            <a:off x="13020805" y="3321862"/>
            <a:ext cx="4822529" cy="119207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2400" b="0" i="0" u="none" dirty="0" err="1">
                <a:solidFill>
                  <a:schemeClr val="accent3">
                    <a:lumMod val="50000"/>
                  </a:schemeClr>
                </a:solidFill>
                <a:latin typeface="Times New Roman"/>
                <a:ea typeface="Times New Roman"/>
                <a:cs typeface="Times New Roman"/>
              </a:rPr>
              <a:t>気象条件と患者数の関係は単純な線形ではなく、複雑な非線形関係を持つ</a:t>
            </a:r>
            <a:r>
              <a:rPr sz="2400" b="0" i="0" u="none" dirty="0">
                <a:solidFill>
                  <a:schemeClr val="accent3">
                    <a:lumMod val="50000"/>
                  </a:schemeClr>
                </a:solidFill>
                <a:latin typeface="Times New Roman"/>
                <a:ea typeface="Times New Roman"/>
                <a:cs typeface="Times New Roman"/>
              </a:rPr>
              <a:t>。</a:t>
            </a:r>
            <a:endParaRPr dirty="0"/>
          </a:p>
        </p:txBody>
      </p:sp>
      <p:pic>
        <p:nvPicPr>
          <p:cNvPr id="5" name="図 4">
            <a:extLst>
              <a:ext uri="{FF2B5EF4-FFF2-40B4-BE49-F238E27FC236}">
                <a16:creationId xmlns:a16="http://schemas.microsoft.com/office/drawing/2014/main" id="{04B7BB54-E0D7-5737-93F2-834C72DD7BD8}"/>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652"/>
                    </a14:imgEffect>
                  </a14:imgLayer>
                </a14:imgProps>
              </a:ext>
            </a:extLst>
          </a:blip>
          <a:stretch>
            <a:fillRect/>
          </a:stretch>
        </p:blipFill>
        <p:spPr>
          <a:xfrm>
            <a:off x="10164608" y="4744865"/>
            <a:ext cx="5350878" cy="5153999"/>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227019535" name="Group 4"/>
          <p:cNvGrpSpPr/>
          <p:nvPr/>
        </p:nvGrpSpPr>
        <p:grpSpPr bwMode="auto">
          <a:xfrm>
            <a:off x="8921373" y="2262400"/>
            <a:ext cx="9382568" cy="3854470"/>
            <a:chOff x="0" y="0"/>
            <a:chExt cx="2471129" cy="1015169"/>
          </a:xfrm>
        </p:grpSpPr>
        <p:sp>
          <p:nvSpPr>
            <p:cNvPr id="5" name="Freeform 5"/>
            <p:cNvSpPr/>
            <p:nvPr/>
          </p:nvSpPr>
          <p:spPr bwMode="auto">
            <a:xfrm>
              <a:off x="0" y="0"/>
              <a:ext cx="2471129" cy="1015169"/>
            </a:xfrm>
            <a:custGeom>
              <a:avLst/>
              <a:gdLst/>
              <a:ahLst/>
              <a:cxnLst/>
              <a:rect l="l" t="t" r="r" b="b"/>
              <a:pathLst>
                <a:path w="2471129" h="1015169" extrusionOk="0">
                  <a:moveTo>
                    <a:pt x="0" y="0"/>
                  </a:moveTo>
                  <a:lnTo>
                    <a:pt x="2471129" y="0"/>
                  </a:lnTo>
                  <a:lnTo>
                    <a:pt x="2471129" y="1015169"/>
                  </a:lnTo>
                  <a:lnTo>
                    <a:pt x="0" y="1015169"/>
                  </a:lnTo>
                  <a:close/>
                </a:path>
              </a:pathLst>
            </a:custGeom>
            <a:solidFill>
              <a:srgbClr val="EAEBE9"/>
            </a:solidFill>
          </p:spPr>
          <p:txBody>
            <a:bodyPr/>
            <a:lstStyle/>
            <a:p>
              <a:endParaRPr lang="ja-JP" altLang="en-US" dirty="0"/>
            </a:p>
          </p:txBody>
        </p:sp>
        <p:sp>
          <p:nvSpPr>
            <p:cNvPr id="6" name="TextBox 6"/>
            <p:cNvSpPr txBox="1"/>
            <p:nvPr/>
          </p:nvSpPr>
          <p:spPr bwMode="auto">
            <a:xfrm>
              <a:off x="0" y="-47625"/>
              <a:ext cx="2471129" cy="1062794"/>
            </a:xfrm>
            <a:prstGeom prst="rect">
              <a:avLst/>
            </a:prstGeom>
            <a:grpFill/>
          </p:spPr>
          <p:txBody>
            <a:bodyPr lIns="50800" tIns="50800" rIns="50800" bIns="50800" rtlCol="0" anchor="ctr"/>
            <a:lstStyle/>
            <a:p>
              <a:pPr algn="ctr">
                <a:lnSpc>
                  <a:spcPts val="3012"/>
                </a:lnSpc>
                <a:defRPr/>
              </a:pPr>
              <a:endParaRPr/>
            </a:p>
          </p:txBody>
        </p:sp>
      </p:grpSp>
      <p:sp>
        <p:nvSpPr>
          <p:cNvPr id="1139479831" name="TextBox 13"/>
          <p:cNvSpPr txBox="1"/>
          <p:nvPr/>
        </p:nvSpPr>
        <p:spPr bwMode="auto">
          <a:xfrm>
            <a:off x="3126279" y="576332"/>
            <a:ext cx="12038320" cy="1102127"/>
          </a:xfrm>
          <a:prstGeom prst="rect">
            <a:avLst/>
          </a:prstGeom>
        </p:spPr>
        <p:txBody>
          <a:bodyPr lIns="0" tIns="0" rIns="0" bIns="0" rtlCol="0" anchor="t">
            <a:spAutoFit/>
          </a:bodyPr>
          <a:lstStyle/>
          <a:p>
            <a:pPr algn="ctr">
              <a:defRPr/>
            </a:pPr>
            <a:r>
              <a:rPr sz="7200" b="1" i="0" u="none">
                <a:solidFill>
                  <a:schemeClr val="accent3">
                    <a:lumMod val="50000"/>
                  </a:schemeClr>
                </a:solidFill>
                <a:latin typeface="Times New Roman"/>
                <a:ea typeface="Times New Roman"/>
                <a:cs typeface="Times New Roman"/>
              </a:rPr>
              <a:t>アプローチ手法</a:t>
            </a:r>
            <a:endParaRPr/>
          </a:p>
        </p:txBody>
      </p:sp>
      <p:sp>
        <p:nvSpPr>
          <p:cNvPr id="1486883674" name="TextBox 14"/>
          <p:cNvSpPr txBox="1"/>
          <p:nvPr/>
        </p:nvSpPr>
        <p:spPr bwMode="auto">
          <a:xfrm>
            <a:off x="10120199" y="3465507"/>
            <a:ext cx="7141619" cy="1619609"/>
          </a:xfrm>
          <a:prstGeom prst="rect">
            <a:avLst/>
          </a:prstGeom>
        </p:spPr>
        <p:txBody>
          <a:bodyPr lIns="0" tIns="0" rIns="0" bIns="0" rtlCol="0" anchor="t">
            <a:spAutoFit/>
          </a:bodyPr>
          <a:lstStyle/>
          <a:p>
            <a:pPr lvl="1" algn="l">
              <a:lnSpc>
                <a:spcPts val="4250"/>
              </a:lnSpc>
              <a:spcBef>
                <a:spcPts val="0"/>
              </a:spcBef>
              <a:defRPr/>
            </a:pPr>
            <a:r>
              <a:rPr sz="2800" b="0" i="0" u="none" dirty="0" err="1">
                <a:solidFill>
                  <a:schemeClr val="accent3">
                    <a:lumMod val="50000"/>
                  </a:schemeClr>
                </a:solidFill>
                <a:latin typeface="BIZ UDゴシック" panose="020B0400000000000000" pitchFamily="49" charset="-128"/>
                <a:ea typeface="BIZ UDゴシック" panose="020B0400000000000000" pitchFamily="49" charset="-128"/>
                <a:cs typeface="Times New Roman"/>
              </a:rPr>
              <a:t>スプライン関数を用いて説明変数と目的変数の</a:t>
            </a:r>
            <a:r>
              <a:rPr sz="2800" b="1" i="0" u="none" dirty="0" err="1">
                <a:solidFill>
                  <a:schemeClr val="accent3">
                    <a:lumMod val="50000"/>
                  </a:schemeClr>
                </a:solidFill>
                <a:latin typeface="BIZ UDゴシック" panose="020B0400000000000000" pitchFamily="49" charset="-128"/>
                <a:ea typeface="BIZ UDゴシック" panose="020B0400000000000000" pitchFamily="49" charset="-128"/>
                <a:cs typeface="Times New Roman"/>
              </a:rPr>
              <a:t>非線形な関係</a:t>
            </a:r>
            <a:r>
              <a:rPr sz="2800" b="0" i="0" u="none" dirty="0" err="1">
                <a:solidFill>
                  <a:schemeClr val="accent3">
                    <a:lumMod val="50000"/>
                  </a:schemeClr>
                </a:solidFill>
                <a:latin typeface="BIZ UDゴシック" panose="020B0400000000000000" pitchFamily="49" charset="-128"/>
                <a:ea typeface="BIZ UDゴシック" panose="020B0400000000000000" pitchFamily="49" charset="-128"/>
                <a:cs typeface="Times New Roman"/>
              </a:rPr>
              <a:t>を柔軟に表現できる統計手法です</a:t>
            </a:r>
            <a:endParaRPr dirty="0">
              <a:latin typeface="BIZ UDゴシック" panose="020B0400000000000000" pitchFamily="49" charset="-128"/>
              <a:ea typeface="BIZ UDゴシック" panose="020B0400000000000000" pitchFamily="49" charset="-128"/>
            </a:endParaRPr>
          </a:p>
        </p:txBody>
      </p:sp>
      <p:sp>
        <p:nvSpPr>
          <p:cNvPr id="190275751" name="TextBox 15"/>
          <p:cNvSpPr txBox="1"/>
          <p:nvPr/>
        </p:nvSpPr>
        <p:spPr bwMode="auto">
          <a:xfrm>
            <a:off x="10844100" y="2800937"/>
            <a:ext cx="5537114" cy="622158"/>
          </a:xfrm>
          <a:prstGeom prst="rect">
            <a:avLst/>
          </a:prstGeom>
        </p:spPr>
        <p:txBody>
          <a:bodyPr lIns="0" tIns="0" rIns="0" bIns="0" rtlCol="0" anchor="t">
            <a:spAutoFit/>
          </a:bodyPr>
          <a:lstStyle/>
          <a:p>
            <a:pPr marL="0" lvl="0" indent="0" algn="ctr">
              <a:lnSpc>
                <a:spcPts val="5230"/>
              </a:lnSpc>
              <a:spcBef>
                <a:spcPts val="0"/>
              </a:spcBef>
              <a:defRPr/>
            </a:pPr>
            <a:r>
              <a:rPr lang="en-US" sz="3750" b="1" i="1" dirty="0">
                <a:solidFill>
                  <a:schemeClr val="accent3">
                    <a:lumMod val="50000"/>
                  </a:schemeClr>
                </a:solidFill>
                <a:latin typeface="Futura Bold Italics"/>
                <a:ea typeface="Futura Bold Italics"/>
                <a:cs typeface="Futura Bold Italics"/>
              </a:rPr>
              <a:t>GAM</a:t>
            </a:r>
            <a:endParaRPr dirty="0">
              <a:solidFill>
                <a:schemeClr val="accent3">
                  <a:lumMod val="50000"/>
                </a:schemeClr>
              </a:solidFill>
            </a:endParaRPr>
          </a:p>
        </p:txBody>
      </p:sp>
      <p:sp>
        <p:nvSpPr>
          <p:cNvPr id="664393759" name="TextBox 16"/>
          <p:cNvSpPr txBox="1"/>
          <p:nvPr/>
        </p:nvSpPr>
        <p:spPr bwMode="auto">
          <a:xfrm>
            <a:off x="1116904" y="7479453"/>
            <a:ext cx="8282509" cy="1395126"/>
          </a:xfrm>
          <a:prstGeom prst="rect">
            <a:avLst/>
          </a:prstGeom>
        </p:spPr>
        <p:txBody>
          <a:bodyPr lIns="0" tIns="0" rIns="0" bIns="0" rtlCol="0" anchor="t">
            <a:spAutoFit/>
          </a:bodyPr>
          <a:lstStyle/>
          <a:p>
            <a:pPr algn="ctr">
              <a:defRPr/>
            </a:pPr>
            <a:r>
              <a:rPr lang="en-US" sz="3600" b="0" i="0" u="none" strike="noStrike" cap="none" spc="0" dirty="0">
                <a:solidFill>
                  <a:schemeClr val="accent3">
                    <a:lumMod val="50000"/>
                  </a:schemeClr>
                </a:solidFill>
                <a:latin typeface="Times New Roman"/>
                <a:ea typeface="Times New Roman"/>
                <a:cs typeface="Times New Roman"/>
              </a:rPr>
              <a:t>1986年に提案</a:t>
            </a:r>
            <a:endParaRPr sz="3600" dirty="0">
              <a:solidFill>
                <a:schemeClr val="accent3">
                  <a:lumMod val="50000"/>
                </a:schemeClr>
              </a:solidFill>
            </a:endParaRPr>
          </a:p>
          <a:p>
            <a:pPr marL="0" lvl="0" indent="0" algn="l">
              <a:lnSpc>
                <a:spcPts val="8399"/>
              </a:lnSpc>
              <a:spcBef>
                <a:spcPts val="0"/>
              </a:spcBef>
              <a:defRPr/>
            </a:pPr>
            <a:endParaRPr dirty="0">
              <a:latin typeface="BIZ UDゴシック" panose="020B0400000000000000" pitchFamily="49" charset="-128"/>
              <a:ea typeface="BIZ UDゴシック" panose="020B0400000000000000" pitchFamily="49" charset="-128"/>
            </a:endParaRPr>
          </a:p>
        </p:txBody>
      </p:sp>
      <p:sp>
        <p:nvSpPr>
          <p:cNvPr id="668089655" name="TextBox 17"/>
          <p:cNvSpPr txBox="1"/>
          <p:nvPr/>
        </p:nvSpPr>
        <p:spPr bwMode="auto">
          <a:xfrm>
            <a:off x="5257800" y="7970961"/>
            <a:ext cx="4253339" cy="335639"/>
          </a:xfrm>
          <a:prstGeom prst="rect">
            <a:avLst/>
          </a:prstGeom>
        </p:spPr>
        <p:txBody>
          <a:bodyPr lIns="0" tIns="0" rIns="0" bIns="0" rtlCol="0" anchor="t">
            <a:spAutoFit/>
          </a:bodyPr>
          <a:lstStyle/>
          <a:p>
            <a:pPr>
              <a:defRPr/>
            </a:pPr>
            <a:endParaRPr sz="2200"/>
          </a:p>
        </p:txBody>
      </p:sp>
      <p:sp>
        <p:nvSpPr>
          <p:cNvPr id="1951396800" name="TextBox 18"/>
          <p:cNvSpPr txBox="1"/>
          <p:nvPr/>
        </p:nvSpPr>
        <p:spPr bwMode="auto">
          <a:xfrm>
            <a:off x="9687125" y="8692979"/>
            <a:ext cx="2731358" cy="411839"/>
          </a:xfrm>
          <a:prstGeom prst="rect">
            <a:avLst/>
          </a:prstGeom>
        </p:spPr>
        <p:txBody>
          <a:bodyPr lIns="0" tIns="0" rIns="0" bIns="0" rtlCol="0" anchor="t">
            <a:spAutoFit/>
          </a:bodyPr>
          <a:lstStyle/>
          <a:p>
            <a:pPr>
              <a:defRPr/>
            </a:pPr>
            <a:r>
              <a:rPr lang="en-US" sz="2700" b="0" i="0" u="none" strike="noStrike" cap="none" spc="0" dirty="0">
                <a:solidFill>
                  <a:srgbClr val="000000"/>
                </a:solidFill>
                <a:latin typeface="Times New Roman"/>
                <a:ea typeface="Times New Roman"/>
                <a:cs typeface="Times New Roman"/>
              </a:rPr>
              <a:t>   Trevor Hastie</a:t>
            </a:r>
            <a:endParaRPr dirty="0"/>
          </a:p>
        </p:txBody>
      </p:sp>
      <p:sp>
        <p:nvSpPr>
          <p:cNvPr id="1160819883" name="TextBox 19"/>
          <p:cNvSpPr txBox="1"/>
          <p:nvPr/>
        </p:nvSpPr>
        <p:spPr bwMode="auto">
          <a:xfrm>
            <a:off x="13555185" y="8692979"/>
            <a:ext cx="2730278" cy="411839"/>
          </a:xfrm>
          <a:prstGeom prst="rect">
            <a:avLst/>
          </a:prstGeom>
        </p:spPr>
        <p:txBody>
          <a:bodyPr lIns="0" tIns="0" rIns="0" bIns="0" rtlCol="0" anchor="t">
            <a:spAutoFit/>
          </a:bodyPr>
          <a:lstStyle/>
          <a:p>
            <a:pPr>
              <a:defRPr/>
            </a:pPr>
            <a:r>
              <a:rPr lang="en-US" sz="2700" b="0" i="0" u="none" strike="noStrike" cap="none" spc="0" dirty="0">
                <a:solidFill>
                  <a:srgbClr val="000000"/>
                </a:solidFill>
                <a:latin typeface="Times New Roman"/>
                <a:ea typeface="Times New Roman"/>
                <a:cs typeface="Times New Roman"/>
              </a:rPr>
              <a:t>Robert </a:t>
            </a:r>
            <a:r>
              <a:rPr lang="en-US" sz="2700" b="0" i="0" u="none" strike="noStrike" cap="none" spc="0" dirty="0" err="1">
                <a:solidFill>
                  <a:srgbClr val="000000"/>
                </a:solidFill>
                <a:latin typeface="Times New Roman"/>
                <a:ea typeface="Times New Roman"/>
                <a:cs typeface="Times New Roman"/>
              </a:rPr>
              <a:t>Tibshirani</a:t>
            </a:r>
            <a:endParaRPr dirty="0"/>
          </a:p>
        </p:txBody>
      </p:sp>
      <p:pic>
        <p:nvPicPr>
          <p:cNvPr id="497553552" name="図 497553551"/>
          <p:cNvPicPr>
            <a:picLocks noChangeAspect="1"/>
          </p:cNvPicPr>
          <p:nvPr/>
        </p:nvPicPr>
        <p:blipFill rotWithShape="1">
          <a:blip r:embed="rId3"/>
          <a:stretch/>
        </p:blipFill>
        <p:spPr bwMode="auto">
          <a:xfrm>
            <a:off x="152399" y="2115882"/>
            <a:ext cx="9123745" cy="3846766"/>
          </a:xfrm>
          <a:prstGeom prst="rect">
            <a:avLst/>
          </a:prstGeom>
        </p:spPr>
      </p:pic>
      <p:pic>
        <p:nvPicPr>
          <p:cNvPr id="1310284924" name="図 1310284923"/>
          <p:cNvPicPr>
            <a:picLocks noChangeAspect="1"/>
          </p:cNvPicPr>
          <p:nvPr/>
        </p:nvPicPr>
        <p:blipFill rotWithShape="1">
          <a:blip r:embed="rId4"/>
          <a:stretch/>
        </p:blipFill>
        <p:spPr bwMode="auto">
          <a:xfrm>
            <a:off x="9937804" y="6241611"/>
            <a:ext cx="2059462" cy="2390774"/>
          </a:xfrm>
          <a:prstGeom prst="rect">
            <a:avLst/>
          </a:prstGeom>
        </p:spPr>
      </p:pic>
      <p:pic>
        <p:nvPicPr>
          <p:cNvPr id="1651381840" name="図 1651381839"/>
          <p:cNvPicPr>
            <a:picLocks noChangeAspect="1"/>
          </p:cNvPicPr>
          <p:nvPr/>
        </p:nvPicPr>
        <p:blipFill rotWithShape="1">
          <a:blip r:embed="rId5"/>
          <a:stretch/>
        </p:blipFill>
        <p:spPr bwMode="auto">
          <a:xfrm>
            <a:off x="13691008" y="6407890"/>
            <a:ext cx="2143125" cy="2143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053336612" name="Group 4"/>
          <p:cNvGrpSpPr/>
          <p:nvPr/>
        </p:nvGrpSpPr>
        <p:grpSpPr bwMode="auto">
          <a:xfrm>
            <a:off x="4973389" y="-152517"/>
            <a:ext cx="4170610" cy="11214038"/>
            <a:chOff x="0" y="0"/>
            <a:chExt cx="1098432" cy="2953491"/>
          </a:xfrm>
        </p:grpSpPr>
        <p:sp>
          <p:nvSpPr>
            <p:cNvPr id="5" name="Freeform 5"/>
            <p:cNvSpPr/>
            <p:nvPr/>
          </p:nvSpPr>
          <p:spPr bwMode="auto">
            <a:xfrm>
              <a:off x="0" y="0"/>
              <a:ext cx="1098432" cy="2953491"/>
            </a:xfrm>
            <a:custGeom>
              <a:avLst/>
              <a:gdLst/>
              <a:ahLst/>
              <a:cxnLst/>
              <a:rect l="l" t="t" r="r" b="b"/>
              <a:pathLst>
                <a:path w="1098432" h="2953491" extrusionOk="0">
                  <a:moveTo>
                    <a:pt x="0" y="0"/>
                  </a:moveTo>
                  <a:lnTo>
                    <a:pt x="1098432" y="0"/>
                  </a:lnTo>
                  <a:lnTo>
                    <a:pt x="1098432" y="2953491"/>
                  </a:lnTo>
                  <a:lnTo>
                    <a:pt x="0" y="2953491"/>
                  </a:lnTo>
                  <a:close/>
                </a:path>
              </a:pathLst>
            </a:custGeom>
            <a:solidFill>
              <a:srgbClr val="EAEBE9"/>
            </a:solidFill>
          </p:spPr>
        </p:sp>
        <p:sp>
          <p:nvSpPr>
            <p:cNvPr id="6" name="TextBox 6"/>
            <p:cNvSpPr txBox="1"/>
            <p:nvPr/>
          </p:nvSpPr>
          <p:spPr bwMode="auto">
            <a:xfrm>
              <a:off x="0" y="-47625"/>
              <a:ext cx="1098432" cy="3001116"/>
            </a:xfrm>
            <a:prstGeom prst="rect">
              <a:avLst/>
            </a:prstGeom>
            <a:grpFill/>
          </p:spPr>
          <p:txBody>
            <a:bodyPr lIns="50800" tIns="50800" rIns="50800" bIns="50800" rtlCol="0" anchor="ctr"/>
            <a:lstStyle/>
            <a:p>
              <a:pPr algn="ctr">
                <a:lnSpc>
                  <a:spcPts val="3012"/>
                </a:lnSpc>
                <a:defRPr/>
              </a:pPr>
              <a:endParaRPr/>
            </a:p>
          </p:txBody>
        </p:sp>
      </p:grpSp>
      <p:sp>
        <p:nvSpPr>
          <p:cNvPr id="1422857486" name="TextBox 7"/>
          <p:cNvSpPr txBox="1"/>
          <p:nvPr/>
        </p:nvSpPr>
        <p:spPr bwMode="auto">
          <a:xfrm>
            <a:off x="5872727" y="3261097"/>
            <a:ext cx="2238110" cy="3510320"/>
          </a:xfrm>
          <a:prstGeom prst="rect">
            <a:avLst/>
          </a:prstGeom>
        </p:spPr>
        <p:txBody>
          <a:bodyPr lIns="0" tIns="0" rIns="0" bIns="0" rtlCol="0" anchor="t">
            <a:spAutoFit/>
          </a:bodyPr>
          <a:lstStyle/>
          <a:p>
            <a:pPr marL="0" lvl="0" indent="0" algn="ctr">
              <a:lnSpc>
                <a:spcPts val="14310"/>
              </a:lnSpc>
              <a:spcBef>
                <a:spcPts val="0"/>
              </a:spcBef>
              <a:defRPr/>
            </a:pPr>
            <a:r>
              <a:rPr sz="9600" dirty="0" err="1">
                <a:solidFill>
                  <a:schemeClr val="accent3">
                    <a:lumMod val="50000"/>
                  </a:schemeClr>
                </a:solidFill>
              </a:rPr>
              <a:t>手順</a:t>
            </a:r>
            <a:endParaRPr dirty="0"/>
          </a:p>
        </p:txBody>
      </p:sp>
      <p:sp>
        <p:nvSpPr>
          <p:cNvPr id="1526558182" name="TextBox 9"/>
          <p:cNvSpPr txBox="1"/>
          <p:nvPr/>
        </p:nvSpPr>
        <p:spPr bwMode="auto">
          <a:xfrm>
            <a:off x="9744075" y="1884588"/>
            <a:ext cx="7515585" cy="447653"/>
          </a:xfrm>
          <a:prstGeom prst="rect">
            <a:avLst/>
          </a:prstGeom>
        </p:spPr>
        <p:txBody>
          <a:bodyPr lIns="0" tIns="0" rIns="0" bIns="0" rtlCol="0" anchor="t">
            <a:spAutoFit/>
          </a:bodyPr>
          <a:lstStyle/>
          <a:p>
            <a:pPr marL="0" lvl="0" indent="0" algn="l">
              <a:lnSpc>
                <a:spcPts val="3522"/>
              </a:lnSpc>
              <a:spcBef>
                <a:spcPts val="0"/>
              </a:spcBef>
              <a:defRPr/>
            </a:pPr>
            <a:endParaRPr/>
          </a:p>
        </p:txBody>
      </p:sp>
      <p:sp>
        <p:nvSpPr>
          <p:cNvPr id="1704893614" name="TextBox 10"/>
          <p:cNvSpPr txBox="1"/>
          <p:nvPr/>
        </p:nvSpPr>
        <p:spPr bwMode="auto">
          <a:xfrm>
            <a:off x="9744075" y="6745194"/>
            <a:ext cx="7515585" cy="447653"/>
          </a:xfrm>
          <a:prstGeom prst="rect">
            <a:avLst/>
          </a:prstGeom>
        </p:spPr>
        <p:txBody>
          <a:bodyPr lIns="0" tIns="0" rIns="0" bIns="0" rtlCol="0" anchor="t">
            <a:spAutoFit/>
          </a:bodyPr>
          <a:lstStyle/>
          <a:p>
            <a:pPr marL="0" lvl="0" indent="0" algn="l">
              <a:lnSpc>
                <a:spcPts val="3522"/>
              </a:lnSpc>
              <a:spcBef>
                <a:spcPts val="0"/>
              </a:spcBef>
              <a:defRPr/>
            </a:pPr>
            <a:endParaRPr/>
          </a:p>
        </p:txBody>
      </p:sp>
      <p:pic>
        <p:nvPicPr>
          <p:cNvPr id="655292087" name="図 655292086"/>
          <p:cNvPicPr>
            <a:picLocks noChangeAspect="1"/>
          </p:cNvPicPr>
          <p:nvPr/>
        </p:nvPicPr>
        <p:blipFill rotWithShape="1">
          <a:blip r:embed="rId3"/>
          <a:stretch/>
        </p:blipFill>
        <p:spPr bwMode="auto">
          <a:xfrm>
            <a:off x="-53161" y="-152517"/>
            <a:ext cx="5026551" cy="10673998"/>
          </a:xfrm>
          <a:prstGeom prst="rect">
            <a:avLst/>
          </a:prstGeom>
        </p:spPr>
      </p:pic>
      <p:sp>
        <p:nvSpPr>
          <p:cNvPr id="384799932" name="テキスト ボックス 384799931"/>
          <p:cNvSpPr txBox="1"/>
          <p:nvPr/>
        </p:nvSpPr>
        <p:spPr bwMode="auto">
          <a:xfrm>
            <a:off x="11579007" y="1651311"/>
            <a:ext cx="4239453" cy="709425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371994" indent="-371994">
              <a:buAutoNum type="arabicPeriod"/>
              <a:defRPr/>
            </a:pPr>
            <a:r>
              <a:rPr sz="2800" b="1"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データ収集と前処理</a:t>
            </a:r>
            <a:endParaRPr sz="2800" dirty="0">
              <a:solidFill>
                <a:schemeClr val="accent3">
                  <a:lumMod val="50000"/>
                </a:schemeClr>
              </a:solidFill>
              <a:latin typeface="BIZ UDPゴシック" panose="020B0400000000000000" pitchFamily="50" charset="-128"/>
              <a:ea typeface="BIZ UDPゴシック" panose="020B0400000000000000" pitchFamily="50" charset="-128"/>
            </a:endParaRPr>
          </a:p>
          <a:p>
            <a:pPr marL="371994" indent="-371994">
              <a:buAutoNum type="arabicPeriod"/>
              <a:defRPr/>
            </a:pPr>
            <a:endParaRPr sz="2800" dirty="0">
              <a:solidFill>
                <a:schemeClr val="accent3">
                  <a:lumMod val="50000"/>
                </a:schemeClr>
              </a:solidFill>
              <a:latin typeface="BIZ UDPゴシック" panose="020B0400000000000000" pitchFamily="50" charset="-128"/>
              <a:ea typeface="BIZ UDPゴシック" panose="020B0400000000000000" pitchFamily="50" charset="-128"/>
            </a:endParaRPr>
          </a:p>
          <a:p>
            <a:pPr marL="371994" indent="-371994">
              <a:buAutoNum type="arabicPeriod"/>
              <a:defRPr/>
            </a:pPr>
            <a:r>
              <a:rPr sz="2800" b="1"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特徴エンジニアリング</a:t>
            </a:r>
            <a:endParaRPr lang="en-US" sz="2800" b="1"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endParaRPr>
          </a:p>
          <a:p>
            <a:pPr marL="371994" indent="-371994">
              <a:buAutoNum type="arabicPeriod"/>
              <a:defRPr/>
            </a:pPr>
            <a:endParaRPr lang="en-US" sz="2800" b="1"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endParaRPr>
          </a:p>
          <a:p>
            <a:pPr marL="371994" indent="-371994">
              <a:buAutoNum type="arabicPeriod"/>
              <a:defRPr/>
            </a:pPr>
            <a:r>
              <a:rPr sz="2800" b="1"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目的変数の変換</a:t>
            </a:r>
            <a:endParaRPr sz="2800" b="1"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endParaRPr>
          </a:p>
          <a:p>
            <a:pPr marL="371994" indent="-371994">
              <a:buAutoNum type="arabicPeriod"/>
              <a:defRPr/>
            </a:pPr>
            <a:endParaRPr sz="2800" dirty="0">
              <a:solidFill>
                <a:schemeClr val="accent3">
                  <a:lumMod val="50000"/>
                </a:schemeClr>
              </a:solidFill>
              <a:latin typeface="BIZ UDPゴシック" panose="020B0400000000000000" pitchFamily="50" charset="-128"/>
              <a:ea typeface="BIZ UDPゴシック" panose="020B0400000000000000" pitchFamily="50" charset="-128"/>
            </a:endParaRPr>
          </a:p>
          <a:p>
            <a:pPr marL="371994" indent="-371994">
              <a:buAutoNum type="arabicPeriod"/>
              <a:defRPr/>
            </a:pPr>
            <a:r>
              <a:rPr sz="2800" b="1"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データ分割</a:t>
            </a:r>
            <a:endParaRPr sz="2800" b="1"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endParaRPr>
          </a:p>
          <a:p>
            <a:pPr marL="371994" indent="-371994">
              <a:buAutoNum type="arabicPeriod"/>
              <a:defRPr/>
            </a:pPr>
            <a:endParaRPr sz="2800" dirty="0">
              <a:solidFill>
                <a:schemeClr val="accent3">
                  <a:lumMod val="50000"/>
                </a:schemeClr>
              </a:solidFill>
              <a:latin typeface="BIZ UDPゴシック" panose="020B0400000000000000" pitchFamily="50" charset="-128"/>
              <a:ea typeface="BIZ UDPゴシック" panose="020B0400000000000000" pitchFamily="50" charset="-128"/>
            </a:endParaRPr>
          </a:p>
          <a:p>
            <a:pPr marL="371994" indent="-371994">
              <a:buAutoNum type="arabicPeriod"/>
              <a:defRPr/>
            </a:pPr>
            <a:r>
              <a:rPr sz="2800" b="1"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GAMモデルの学習</a:t>
            </a:r>
            <a:endParaRPr sz="2800" b="1"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endParaRPr>
          </a:p>
          <a:p>
            <a:pPr marL="371994" indent="-371994">
              <a:buAutoNum type="arabicPeriod"/>
              <a:defRPr/>
            </a:pPr>
            <a:endParaRPr sz="2800" dirty="0">
              <a:solidFill>
                <a:schemeClr val="accent3">
                  <a:lumMod val="50000"/>
                </a:schemeClr>
              </a:solidFill>
              <a:latin typeface="BIZ UDPゴシック" panose="020B0400000000000000" pitchFamily="50" charset="-128"/>
              <a:ea typeface="BIZ UDPゴシック" panose="020B0400000000000000" pitchFamily="50" charset="-128"/>
            </a:endParaRPr>
          </a:p>
          <a:p>
            <a:pPr marL="371994" indent="-371994">
              <a:buAutoNum type="arabicPeriod"/>
              <a:defRPr/>
            </a:pPr>
            <a:r>
              <a:rPr sz="2800" b="1"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モデル評価</a:t>
            </a:r>
            <a:endParaRPr sz="2800" b="1"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endParaRPr>
          </a:p>
          <a:p>
            <a:pPr marL="371994" indent="-371994">
              <a:buAutoNum type="arabicPeriod"/>
              <a:defRPr/>
            </a:pPr>
            <a:endParaRPr sz="2800" dirty="0">
              <a:solidFill>
                <a:schemeClr val="accent3">
                  <a:lumMod val="50000"/>
                </a:schemeClr>
              </a:solidFill>
              <a:latin typeface="BIZ UDPゴシック" panose="020B0400000000000000" pitchFamily="50" charset="-128"/>
              <a:ea typeface="BIZ UDPゴシック" panose="020B0400000000000000" pitchFamily="50" charset="-128"/>
            </a:endParaRPr>
          </a:p>
          <a:p>
            <a:pPr marL="371994" indent="-371994">
              <a:buAutoNum type="arabicPeriod"/>
              <a:defRPr/>
            </a:pPr>
            <a:r>
              <a:rPr sz="2800" b="1"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予測と比較</a:t>
            </a:r>
            <a:endParaRPr sz="2800" b="1"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endParaRPr>
          </a:p>
          <a:p>
            <a:pPr marL="371994" indent="-371994">
              <a:buAutoNum type="arabicPeriod"/>
              <a:defRPr/>
            </a:pPr>
            <a:endParaRPr sz="2800" dirty="0">
              <a:solidFill>
                <a:schemeClr val="accent3">
                  <a:lumMod val="50000"/>
                </a:schemeClr>
              </a:solidFill>
              <a:latin typeface="BIZ UDPゴシック" panose="020B0400000000000000" pitchFamily="50" charset="-128"/>
              <a:ea typeface="BIZ UDPゴシック" panose="020B0400000000000000" pitchFamily="50" charset="-128"/>
            </a:endParaRPr>
          </a:p>
          <a:p>
            <a:pPr marL="371994" indent="-371994">
              <a:lnSpc>
                <a:spcPct val="100000"/>
              </a:lnSpc>
              <a:buAutoNum type="arabicPeriod"/>
              <a:defRPr/>
            </a:pPr>
            <a:r>
              <a:rPr sz="2800" b="1"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危険日特徴と予防知見</a:t>
            </a:r>
            <a:endParaRPr dirty="0">
              <a:latin typeface="BIZ UDPゴシック" panose="020B0400000000000000" pitchFamily="50" charset="-128"/>
              <a:ea typeface="BIZ UDPゴシック" panose="020B0400000000000000" pitchFamily="50"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4" name="図 13" descr="マップ">
            <a:extLst>
              <a:ext uri="{FF2B5EF4-FFF2-40B4-BE49-F238E27FC236}">
                <a16:creationId xmlns:a16="http://schemas.microsoft.com/office/drawing/2014/main" id="{EC5D03F7-B9C9-43CA-33CF-AF686C580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256" y="0"/>
            <a:ext cx="18219711" cy="9938024"/>
          </a:xfrm>
          <a:prstGeom prst="rect">
            <a:avLst/>
          </a:prstGeom>
        </p:spPr>
      </p:pic>
      <p:sp>
        <p:nvSpPr>
          <p:cNvPr id="5" name="TextBox 5"/>
          <p:cNvSpPr txBox="1"/>
          <p:nvPr/>
        </p:nvSpPr>
        <p:spPr bwMode="auto">
          <a:xfrm>
            <a:off x="3649149" y="5687813"/>
            <a:ext cx="11227926" cy="3266926"/>
          </a:xfrm>
          <a:prstGeom prst="rect">
            <a:avLst/>
          </a:prstGeom>
          <a:grpFill/>
        </p:spPr>
        <p:txBody>
          <a:bodyPr lIns="50800" tIns="50800" rIns="50800" bIns="50800" rtlCol="0" anchor="ctr"/>
          <a:lstStyle/>
          <a:p>
            <a:pPr algn="ctr">
              <a:lnSpc>
                <a:spcPts val="3665"/>
              </a:lnSpc>
              <a:defRPr/>
            </a:pPr>
            <a:endParaRPr dirty="0">
              <a:solidFill>
                <a:schemeClr val="accent3">
                  <a:lumMod val="50000"/>
                </a:schemeClr>
              </a:solidFill>
              <a:latin typeface="BIZ UDPゴシック" panose="020B0400000000000000" pitchFamily="50" charset="-128"/>
              <a:ea typeface="BIZ UDPゴシック" panose="020B0400000000000000" pitchFamily="50" charset="-128"/>
            </a:endParaRPr>
          </a:p>
        </p:txBody>
      </p:sp>
      <p:sp>
        <p:nvSpPr>
          <p:cNvPr id="15" name="楕円 14">
            <a:extLst>
              <a:ext uri="{FF2B5EF4-FFF2-40B4-BE49-F238E27FC236}">
                <a16:creationId xmlns:a16="http://schemas.microsoft.com/office/drawing/2014/main" id="{DF0E6011-8842-1473-8F5C-AEB4AEDAAA14}"/>
              </a:ext>
            </a:extLst>
          </p:cNvPr>
          <p:cNvSpPr/>
          <p:nvPr/>
        </p:nvSpPr>
        <p:spPr>
          <a:xfrm>
            <a:off x="1611899" y="-647700"/>
            <a:ext cx="15302424" cy="10782300"/>
          </a:xfrm>
          <a:prstGeom prst="ellipse">
            <a:avLst/>
          </a:prstGeom>
          <a:solidFill>
            <a:schemeClr val="accent3">
              <a:lumMod val="40000"/>
              <a:lumOff val="60000"/>
            </a:schemeClr>
          </a:solidFill>
          <a:effectLst>
            <a:glow rad="482600">
              <a:schemeClr val="accent3">
                <a:lumMod val="20000"/>
                <a:lumOff val="80000"/>
                <a:alpha val="39000"/>
              </a:schemeClr>
            </a:glow>
            <a:softEdge rad="3556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78816407" name="TextBox 9"/>
          <p:cNvSpPr txBox="1"/>
          <p:nvPr/>
        </p:nvSpPr>
        <p:spPr bwMode="auto">
          <a:xfrm>
            <a:off x="2227482" y="0"/>
            <a:ext cx="13833036" cy="1503785"/>
          </a:xfrm>
          <a:prstGeom prst="rect">
            <a:avLst/>
          </a:prstGeom>
        </p:spPr>
        <p:txBody>
          <a:bodyPr lIns="0" tIns="0" rIns="0" bIns="0" rtlCol="0" anchor="t">
            <a:spAutoFit/>
          </a:bodyPr>
          <a:lstStyle/>
          <a:p>
            <a:pPr marL="0" lvl="0" indent="0" algn="ctr">
              <a:lnSpc>
                <a:spcPts val="11838"/>
              </a:lnSpc>
              <a:defRPr/>
            </a:pPr>
            <a:r>
              <a:rPr sz="4800" b="1" i="0" u="none" dirty="0" err="1">
                <a:solidFill>
                  <a:schemeClr val="accent3">
                    <a:lumMod val="50000"/>
                  </a:schemeClr>
                </a:solidFill>
                <a:latin typeface="Times New Roman"/>
                <a:ea typeface="Times New Roman"/>
                <a:cs typeface="Times New Roman"/>
              </a:rPr>
              <a:t>予測モデルの数式</a:t>
            </a:r>
            <a:endParaRPr dirty="0"/>
          </a:p>
        </p:txBody>
      </p:sp>
      <p:sp>
        <p:nvSpPr>
          <p:cNvPr id="244362703" name="TextBox 10"/>
          <p:cNvSpPr txBox="1"/>
          <p:nvPr/>
        </p:nvSpPr>
        <p:spPr bwMode="auto">
          <a:xfrm>
            <a:off x="5257800" y="2781300"/>
            <a:ext cx="8751186" cy="1016817"/>
          </a:xfrm>
          <a:prstGeom prst="rect">
            <a:avLst/>
          </a:prstGeom>
        </p:spPr>
        <p:txBody>
          <a:bodyPr lIns="0" tIns="0" rIns="0" bIns="0" rtlCol="0" anchor="t">
            <a:spAutoFit/>
          </a:bodyPr>
          <a:lstStyle/>
          <a:p>
            <a:pPr marL="0" lvl="0" indent="0" algn="l">
              <a:lnSpc>
                <a:spcPts val="4250"/>
              </a:lnSpc>
              <a:spcBef>
                <a:spcPts val="0"/>
              </a:spcBef>
              <a:defRPr/>
            </a:pPr>
            <a:r>
              <a:rPr sz="2800" b="0"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目的変数は</a:t>
            </a:r>
            <a:r>
              <a:rPr sz="2800" b="0" i="0" u="none" dirty="0" err="1">
                <a:solidFill>
                  <a:schemeClr val="accent3">
                    <a:lumMod val="50000"/>
                  </a:schemeClr>
                </a:solidFill>
                <a:latin typeface="BIZ UDPゴシック" panose="020B0400000000000000" pitchFamily="50" charset="-128"/>
                <a:ea typeface="BIZ UDPゴシック" panose="020B0400000000000000" pitchFamily="50" charset="-128"/>
                <a:cs typeface="Courier New"/>
              </a:rPr>
              <a:t>log</a:t>
            </a:r>
            <a:r>
              <a:rPr sz="2800" b="0" i="0" u="none" dirty="0">
                <a:solidFill>
                  <a:schemeClr val="accent3">
                    <a:lumMod val="50000"/>
                  </a:schemeClr>
                </a:solidFill>
                <a:latin typeface="BIZ UDPゴシック" panose="020B0400000000000000" pitchFamily="50" charset="-128"/>
                <a:ea typeface="BIZ UDPゴシック" panose="020B0400000000000000" pitchFamily="50" charset="-128"/>
                <a:cs typeface="Courier New"/>
              </a:rPr>
              <a:t>(y+1)</a:t>
            </a:r>
            <a:r>
              <a:rPr sz="2800" b="0" i="0" u="none" dirty="0">
                <a:solidFill>
                  <a:schemeClr val="accent3">
                    <a:lumMod val="50000"/>
                  </a:schemeClr>
                </a:solidFill>
                <a:latin typeface="BIZ UDPゴシック" panose="020B0400000000000000" pitchFamily="50" charset="-128"/>
                <a:ea typeface="BIZ UDPゴシック" panose="020B0400000000000000" pitchFamily="50" charset="-128"/>
                <a:cs typeface="Times New Roman"/>
              </a:rPr>
              <a:t> </a:t>
            </a:r>
            <a:r>
              <a:rPr sz="2800" b="0" i="0" u="none" dirty="0" err="1">
                <a:solidFill>
                  <a:schemeClr val="accent3">
                    <a:lumMod val="50000"/>
                  </a:schemeClr>
                </a:solidFill>
                <a:latin typeface="BIZ UDPゴシック" panose="020B0400000000000000" pitchFamily="50" charset="-128"/>
                <a:ea typeface="BIZ UDPゴシック" panose="020B0400000000000000" pitchFamily="50" charset="-128"/>
                <a:cs typeface="Times New Roman"/>
              </a:rPr>
              <a:t>の対数変換を適用。予測される値が非負に保たれ、データの歪みが緩和されます</a:t>
            </a:r>
            <a:endParaRPr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1940E5AE-B40A-4742-8655-69893EEFBD1A}"/>
              </a:ext>
            </a:extLst>
          </p:cNvPr>
          <p:cNvSpPr txBox="1"/>
          <p:nvPr/>
        </p:nvSpPr>
        <p:spPr>
          <a:xfrm>
            <a:off x="4299393" y="6169160"/>
            <a:ext cx="10363200" cy="1922578"/>
          </a:xfrm>
          <a:prstGeom prst="rect">
            <a:avLst/>
          </a:prstGeom>
          <a:noFill/>
        </p:spPr>
        <p:txBody>
          <a:bodyPr wrap="square" rtlCol="0">
            <a:spAutoFit/>
          </a:bodyPr>
          <a:lstStyle/>
          <a:p>
            <a:pPr algn="ctr">
              <a:lnSpc>
                <a:spcPts val="3665"/>
              </a:lnSpc>
              <a:defRPr/>
            </a:pP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log(</a:t>
            </a:r>
            <a:r>
              <a:rPr lang="ja-JP" altLang="en-US"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熱中症搬送人員 </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+ 1) = intercept + s₁(</a:t>
            </a:r>
            <a:r>
              <a:rPr lang="ja-JP" altLang="en-US"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最低気温</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 + s₂(</a:t>
            </a:r>
            <a:r>
              <a:rPr lang="ja-JP" altLang="en-US"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最高気温</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 +  s₃(</a:t>
            </a:r>
            <a:r>
              <a:rPr lang="ja-JP" altLang="en-US"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平均湿度</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 + s₄(</a:t>
            </a:r>
            <a:r>
              <a:rPr lang="ja-JP" altLang="en-US"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最小相対湿度</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 + s₅(</a:t>
            </a:r>
            <a:r>
              <a:rPr lang="ja-JP" altLang="en-US"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平均蒸気圧</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 + s₆(</a:t>
            </a:r>
            <a:r>
              <a:rPr lang="en-US" altLang="ja-JP" sz="2400" b="1" i="0" u="none" dirty="0" err="1">
                <a:solidFill>
                  <a:schemeClr val="accent3">
                    <a:lumMod val="75000"/>
                  </a:schemeClr>
                </a:solidFill>
                <a:latin typeface="BIZ UDPゴシック" panose="020B0400000000000000" pitchFamily="50" charset="-128"/>
                <a:ea typeface="BIZ UDPゴシック" panose="020B0400000000000000" pitchFamily="50" charset="-128"/>
                <a:cs typeface="Times New Roman"/>
              </a:rPr>
              <a:t>month_sin</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 + s₇(</a:t>
            </a:r>
            <a:r>
              <a:rPr lang="en-US" altLang="ja-JP" sz="2400" b="1" i="0" u="none" dirty="0" err="1">
                <a:solidFill>
                  <a:schemeClr val="accent3">
                    <a:lumMod val="75000"/>
                  </a:schemeClr>
                </a:solidFill>
                <a:latin typeface="BIZ UDPゴシック" panose="020B0400000000000000" pitchFamily="50" charset="-128"/>
                <a:ea typeface="BIZ UDPゴシック" panose="020B0400000000000000" pitchFamily="50" charset="-128"/>
                <a:cs typeface="Times New Roman"/>
              </a:rPr>
              <a:t>month_cos</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 +  s₈(</a:t>
            </a:r>
            <a:r>
              <a:rPr lang="en-US" altLang="ja-JP" sz="2400" b="1" i="0" u="none" dirty="0" err="1">
                <a:solidFill>
                  <a:schemeClr val="accent3">
                    <a:lumMod val="75000"/>
                  </a:schemeClr>
                </a:solidFill>
                <a:latin typeface="BIZ UDPゴシック" panose="020B0400000000000000" pitchFamily="50" charset="-128"/>
                <a:ea typeface="BIZ UDPゴシック" panose="020B0400000000000000" pitchFamily="50" charset="-128"/>
                <a:cs typeface="Times New Roman"/>
              </a:rPr>
              <a:t>day_of_week_sin</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 + s₉(</a:t>
            </a:r>
            <a:r>
              <a:rPr lang="en-US" altLang="ja-JP" sz="2400" b="1" i="0" u="none" dirty="0" err="1">
                <a:solidFill>
                  <a:schemeClr val="accent3">
                    <a:lumMod val="75000"/>
                  </a:schemeClr>
                </a:solidFill>
                <a:latin typeface="BIZ UDPゴシック" panose="020B0400000000000000" pitchFamily="50" charset="-128"/>
                <a:ea typeface="BIZ UDPゴシック" panose="020B0400000000000000" pitchFamily="50" charset="-128"/>
                <a:cs typeface="Times New Roman"/>
              </a:rPr>
              <a:t>day_of_week_cos</a:t>
            </a:r>
            <a:r>
              <a:rPr lang="en-US" altLang="ja-JP" sz="2400" b="1" i="0" u="none" dirty="0">
                <a:solidFill>
                  <a:schemeClr val="accent3">
                    <a:lumMod val="75000"/>
                  </a:schemeClr>
                </a:solidFill>
                <a:latin typeface="BIZ UDPゴシック" panose="020B0400000000000000" pitchFamily="50" charset="-128"/>
                <a:ea typeface="BIZ UDPゴシック" panose="020B0400000000000000" pitchFamily="50" charset="-128"/>
                <a:cs typeface="Times New Roman"/>
              </a:rPr>
              <a:t>)</a:t>
            </a:r>
            <a:endParaRPr lang="en-US" altLang="ja-JP" sz="2400" dirty="0">
              <a:solidFill>
                <a:schemeClr val="accent3">
                  <a:lumMod val="75000"/>
                </a:schemeClr>
              </a:solidFill>
              <a:latin typeface="BIZ UDPゴシック" panose="020B0400000000000000" pitchFamily="50" charset="-128"/>
              <a:ea typeface="BIZ UDPゴシック" panose="020B0400000000000000" pitchFamily="50"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946323115" name="図 946323114"/>
          <p:cNvPicPr>
            <a:picLocks noChangeAspect="1"/>
          </p:cNvPicPr>
          <p:nvPr/>
        </p:nvPicPr>
        <p:blipFill rotWithShape="1">
          <a:blip r:embed="rId3"/>
          <a:stretch/>
        </p:blipFill>
        <p:spPr bwMode="auto">
          <a:xfrm>
            <a:off x="174801" y="1453663"/>
            <a:ext cx="17859727" cy="8626961"/>
          </a:xfrm>
          <a:prstGeom prst="rect">
            <a:avLst/>
          </a:prstGeom>
        </p:spPr>
      </p:pic>
      <p:sp>
        <p:nvSpPr>
          <p:cNvPr id="1469676758" name="テキスト ボックス 1469676757"/>
          <p:cNvSpPr txBox="1"/>
          <p:nvPr/>
        </p:nvSpPr>
        <p:spPr bwMode="auto">
          <a:xfrm>
            <a:off x="4495800" y="140830"/>
            <a:ext cx="10073246" cy="129266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7200" dirty="0" err="1">
                <a:solidFill>
                  <a:schemeClr val="accent3">
                    <a:lumMod val="75000"/>
                  </a:schemeClr>
                </a:solidFill>
                <a:latin typeface="BIZ UDPゴシック" panose="020B0400000000000000" pitchFamily="50" charset="-128"/>
                <a:ea typeface="BIZ UDPゴシック" panose="020B0400000000000000" pitchFamily="50" charset="-128"/>
              </a:rPr>
              <a:t>実測と予測モデル比較</a:t>
            </a:r>
            <a:endParaRPr dirty="0">
              <a:solidFill>
                <a:schemeClr val="accent3">
                  <a:lumMod val="75000"/>
                </a:schemeClr>
              </a:solidFill>
              <a:latin typeface="BIZ UDPゴシック" panose="020B0400000000000000" pitchFamily="50" charset="-128"/>
              <a:ea typeface="BIZ UDPゴシック" panose="020B0400000000000000" pitchFamily="50"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330BEA0-D071-8B43-2903-8CBAD1031290}"/>
              </a:ext>
            </a:extLst>
          </p:cNvPr>
          <p:cNvSpPr/>
          <p:nvPr/>
        </p:nvSpPr>
        <p:spPr>
          <a:xfrm>
            <a:off x="6686550" y="0"/>
            <a:ext cx="5562600" cy="1547191"/>
          </a:xfrm>
          <a:prstGeom prst="rect">
            <a:avLst/>
          </a:prstGeom>
          <a:solidFill>
            <a:schemeClr val="accent3">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847658B4-EE86-C821-3376-23A9C399C188}"/>
              </a:ext>
            </a:extLst>
          </p:cNvPr>
          <p:cNvSpPr txBox="1"/>
          <p:nvPr/>
        </p:nvSpPr>
        <p:spPr>
          <a:xfrm>
            <a:off x="6915150" y="388874"/>
            <a:ext cx="5105400" cy="769441"/>
          </a:xfrm>
          <a:prstGeom prst="rect">
            <a:avLst/>
          </a:prstGeom>
          <a:noFill/>
        </p:spPr>
        <p:txBody>
          <a:bodyPr wrap="square" rtlCol="0">
            <a:spAutoFit/>
          </a:bodyPr>
          <a:lstStyle/>
          <a:p>
            <a:pPr algn="ctr"/>
            <a:r>
              <a:rPr kumimoji="1" lang="ja-JP" altLang="en-US" sz="4400" dirty="0"/>
              <a:t>モデル評価</a:t>
            </a:r>
          </a:p>
        </p:txBody>
      </p:sp>
      <p:graphicFrame>
        <p:nvGraphicFramePr>
          <p:cNvPr id="12" name="グラフ 11">
            <a:extLst>
              <a:ext uri="{FF2B5EF4-FFF2-40B4-BE49-F238E27FC236}">
                <a16:creationId xmlns:a16="http://schemas.microsoft.com/office/drawing/2014/main" id="{CCE66F3B-74C6-07C1-051F-B94BEB65329C}"/>
              </a:ext>
            </a:extLst>
          </p:cNvPr>
          <p:cNvGraphicFramePr/>
          <p:nvPr>
            <p:extLst>
              <p:ext uri="{D42A27DB-BD31-4B8C-83A1-F6EECF244321}">
                <p14:modId xmlns:p14="http://schemas.microsoft.com/office/powerpoint/2010/main" val="563234563"/>
              </p:ext>
            </p:extLst>
          </p:nvPr>
        </p:nvGraphicFramePr>
        <p:xfrm>
          <a:off x="590550" y="1936065"/>
          <a:ext cx="8934450" cy="8128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テキスト ボックス 12">
            <a:extLst>
              <a:ext uri="{FF2B5EF4-FFF2-40B4-BE49-F238E27FC236}">
                <a16:creationId xmlns:a16="http://schemas.microsoft.com/office/drawing/2014/main" id="{9EACC314-6AE9-7BE1-8C85-3F71DA7472FC}"/>
              </a:ext>
            </a:extLst>
          </p:cNvPr>
          <p:cNvSpPr txBox="1"/>
          <p:nvPr/>
        </p:nvSpPr>
        <p:spPr>
          <a:xfrm>
            <a:off x="2438400" y="6667500"/>
            <a:ext cx="2895600" cy="646331"/>
          </a:xfrm>
          <a:prstGeom prst="rect">
            <a:avLst/>
          </a:prstGeom>
          <a:noFill/>
        </p:spPr>
        <p:txBody>
          <a:bodyPr wrap="square" rtlCol="0">
            <a:spAutoFit/>
          </a:bodyPr>
          <a:lstStyle/>
          <a:p>
            <a:r>
              <a:rPr kumimoji="1" lang="en-US" altLang="ja-JP" sz="3600" dirty="0">
                <a:solidFill>
                  <a:schemeClr val="bg1"/>
                </a:solidFill>
              </a:rPr>
              <a:t>21.34</a:t>
            </a:r>
            <a:endParaRPr kumimoji="1" lang="ja-JP" altLang="en-US" sz="3600" dirty="0">
              <a:solidFill>
                <a:schemeClr val="bg1"/>
              </a:solidFill>
            </a:endParaRPr>
          </a:p>
        </p:txBody>
      </p:sp>
      <p:graphicFrame>
        <p:nvGraphicFramePr>
          <p:cNvPr id="16" name="グラフ 15">
            <a:extLst>
              <a:ext uri="{FF2B5EF4-FFF2-40B4-BE49-F238E27FC236}">
                <a16:creationId xmlns:a16="http://schemas.microsoft.com/office/drawing/2014/main" id="{02FD8B64-8E8B-C22E-FA57-A13DD388D17F}"/>
              </a:ext>
            </a:extLst>
          </p:cNvPr>
          <p:cNvGraphicFramePr/>
          <p:nvPr>
            <p:extLst>
              <p:ext uri="{D42A27DB-BD31-4B8C-83A1-F6EECF244321}">
                <p14:modId xmlns:p14="http://schemas.microsoft.com/office/powerpoint/2010/main" val="3029230198"/>
              </p:ext>
            </p:extLst>
          </p:nvPr>
        </p:nvGraphicFramePr>
        <p:xfrm>
          <a:off x="10744200" y="2705100"/>
          <a:ext cx="5715000" cy="6019800"/>
        </p:xfrm>
        <a:graphic>
          <a:graphicData uri="http://schemas.openxmlformats.org/drawingml/2006/chart">
            <c:chart xmlns:c="http://schemas.openxmlformats.org/drawingml/2006/chart" xmlns:r="http://schemas.openxmlformats.org/officeDocument/2006/relationships" r:id="rId4"/>
          </a:graphicData>
        </a:graphic>
      </p:graphicFrame>
      <p:sp>
        <p:nvSpPr>
          <p:cNvPr id="17" name="テキスト ボックス 16">
            <a:extLst>
              <a:ext uri="{FF2B5EF4-FFF2-40B4-BE49-F238E27FC236}">
                <a16:creationId xmlns:a16="http://schemas.microsoft.com/office/drawing/2014/main" id="{54931BFC-BA3F-ED37-6BDB-B8F802C4287B}"/>
              </a:ext>
            </a:extLst>
          </p:cNvPr>
          <p:cNvSpPr txBox="1"/>
          <p:nvPr/>
        </p:nvSpPr>
        <p:spPr>
          <a:xfrm>
            <a:off x="12051030" y="9194671"/>
            <a:ext cx="4648200" cy="861774"/>
          </a:xfrm>
          <a:prstGeom prst="rect">
            <a:avLst/>
          </a:prstGeom>
          <a:noFill/>
        </p:spPr>
        <p:txBody>
          <a:bodyPr wrap="square" rtlCol="0">
            <a:spAutoFit/>
          </a:bodyPr>
          <a:lstStyle/>
          <a:p>
            <a:r>
              <a:rPr lang="ja-JP" altLang="en-US" sz="3200" dirty="0">
                <a:effectLst/>
              </a:rPr>
              <a:t>決定係数 </a:t>
            </a:r>
            <a:r>
              <a:rPr lang="en-US" altLang="ja-JP" sz="3200" dirty="0">
                <a:effectLst/>
              </a:rPr>
              <a:t>(R-squared)</a:t>
            </a:r>
          </a:p>
          <a:p>
            <a:endParaRPr kumimoji="1" lang="ja-JP" altLang="en-US" dirty="0"/>
          </a:p>
        </p:txBody>
      </p:sp>
      <p:sp>
        <p:nvSpPr>
          <p:cNvPr id="18" name="テキスト ボックス 17">
            <a:extLst>
              <a:ext uri="{FF2B5EF4-FFF2-40B4-BE49-F238E27FC236}">
                <a16:creationId xmlns:a16="http://schemas.microsoft.com/office/drawing/2014/main" id="{8DB47645-D13C-6616-C390-F33F7D6EB2CC}"/>
              </a:ext>
            </a:extLst>
          </p:cNvPr>
          <p:cNvSpPr txBox="1"/>
          <p:nvPr/>
        </p:nvSpPr>
        <p:spPr>
          <a:xfrm>
            <a:off x="13030200" y="5767626"/>
            <a:ext cx="1752600" cy="861774"/>
          </a:xfrm>
          <a:prstGeom prst="rect">
            <a:avLst/>
          </a:prstGeom>
          <a:noFill/>
        </p:spPr>
        <p:txBody>
          <a:bodyPr wrap="square" rtlCol="0">
            <a:spAutoFit/>
          </a:bodyPr>
          <a:lstStyle/>
          <a:p>
            <a:r>
              <a:rPr lang="en-US" altLang="ja-JP" sz="3200" dirty="0">
                <a:solidFill>
                  <a:schemeClr val="bg1"/>
                </a:solidFill>
                <a:effectLst/>
              </a:rPr>
              <a:t>0.6828</a:t>
            </a:r>
          </a:p>
          <a:p>
            <a:endParaRPr kumimoji="1" lang="ja-JP" altLang="en-US" dirty="0"/>
          </a:p>
        </p:txBody>
      </p:sp>
      <p:sp>
        <p:nvSpPr>
          <p:cNvPr id="19" name="テキスト ボックス 18">
            <a:extLst>
              <a:ext uri="{FF2B5EF4-FFF2-40B4-BE49-F238E27FC236}">
                <a16:creationId xmlns:a16="http://schemas.microsoft.com/office/drawing/2014/main" id="{125A80BA-693A-73C1-3C55-0E3261A11995}"/>
              </a:ext>
            </a:extLst>
          </p:cNvPr>
          <p:cNvSpPr txBox="1"/>
          <p:nvPr/>
        </p:nvSpPr>
        <p:spPr>
          <a:xfrm>
            <a:off x="10576560" y="1683764"/>
            <a:ext cx="6477000" cy="1354217"/>
          </a:xfrm>
          <a:prstGeom prst="rect">
            <a:avLst/>
          </a:prstGeom>
          <a:noFill/>
        </p:spPr>
        <p:txBody>
          <a:bodyPr wrap="square" rtlCol="0">
            <a:spAutoFit/>
          </a:bodyPr>
          <a:lstStyle/>
          <a:p>
            <a:r>
              <a:rPr lang="en-US" altLang="ja-JP" sz="3200" dirty="0">
                <a:effectLst/>
              </a:rPr>
              <a:t>1</a:t>
            </a:r>
            <a:r>
              <a:rPr lang="ja-JP" altLang="en-US" sz="3200" dirty="0">
                <a:effectLst/>
              </a:rPr>
              <a:t>に近いほど優秀 </a:t>
            </a:r>
            <a:r>
              <a:rPr lang="en-US" altLang="ja-JP" sz="3200" dirty="0">
                <a:effectLst/>
              </a:rPr>
              <a:t>/ </a:t>
            </a:r>
            <a:r>
              <a:rPr lang="ja-JP" altLang="en-US" sz="3200" dirty="0">
                <a:effectLst/>
              </a:rPr>
              <a:t>データの約</a:t>
            </a:r>
            <a:r>
              <a:rPr lang="en-US" altLang="ja-JP" sz="3200" dirty="0">
                <a:effectLst/>
              </a:rPr>
              <a:t>68%</a:t>
            </a:r>
            <a:r>
              <a:rPr lang="ja-JP" altLang="en-US" sz="3200" dirty="0">
                <a:effectLst/>
              </a:rPr>
              <a:t>を説明できている</a:t>
            </a:r>
          </a:p>
          <a:p>
            <a:endParaRPr kumimoji="1" lang="ja-JP" altLang="en-US" dirty="0"/>
          </a:p>
        </p:txBody>
      </p:sp>
    </p:spTree>
    <p:extLst>
      <p:ext uri="{BB962C8B-B14F-4D97-AF65-F5344CB8AC3E}">
        <p14:creationId xmlns:p14="http://schemas.microsoft.com/office/powerpoint/2010/main" val="445884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727341196" name="Group 2"/>
          <p:cNvGrpSpPr/>
          <p:nvPr/>
        </p:nvGrpSpPr>
        <p:grpSpPr bwMode="auto">
          <a:xfrm>
            <a:off x="572116" y="-419100"/>
            <a:ext cx="6494717" cy="12087926"/>
            <a:chOff x="0" y="0"/>
            <a:chExt cx="1710543" cy="3183651"/>
          </a:xfrm>
        </p:grpSpPr>
        <p:sp>
          <p:nvSpPr>
            <p:cNvPr id="3" name="Freeform 3"/>
            <p:cNvSpPr/>
            <p:nvPr/>
          </p:nvSpPr>
          <p:spPr bwMode="auto">
            <a:xfrm>
              <a:off x="0" y="0"/>
              <a:ext cx="1710543" cy="3183651"/>
            </a:xfrm>
            <a:custGeom>
              <a:avLst/>
              <a:gdLst/>
              <a:ahLst/>
              <a:cxnLst/>
              <a:rect l="l" t="t" r="r" b="b"/>
              <a:pathLst>
                <a:path w="1710543" h="3183651" extrusionOk="0">
                  <a:moveTo>
                    <a:pt x="0" y="0"/>
                  </a:moveTo>
                  <a:lnTo>
                    <a:pt x="1710543" y="0"/>
                  </a:lnTo>
                  <a:lnTo>
                    <a:pt x="1710543" y="3183651"/>
                  </a:lnTo>
                  <a:lnTo>
                    <a:pt x="0" y="3183651"/>
                  </a:lnTo>
                  <a:close/>
                </a:path>
              </a:pathLst>
            </a:custGeom>
            <a:solidFill>
              <a:srgbClr val="EAEBE9"/>
            </a:solidFill>
          </p:spPr>
        </p:sp>
        <p:sp>
          <p:nvSpPr>
            <p:cNvPr id="4" name="TextBox 4"/>
            <p:cNvSpPr txBox="1"/>
            <p:nvPr/>
          </p:nvSpPr>
          <p:spPr bwMode="auto">
            <a:xfrm>
              <a:off x="0" y="-47625"/>
              <a:ext cx="1710543" cy="3231276"/>
            </a:xfrm>
            <a:prstGeom prst="rect">
              <a:avLst/>
            </a:prstGeom>
            <a:grpFill/>
          </p:spPr>
          <p:txBody>
            <a:bodyPr lIns="50800" tIns="50800" rIns="50800" bIns="50800" rtlCol="0" anchor="ctr"/>
            <a:lstStyle/>
            <a:p>
              <a:pPr algn="ctr">
                <a:lnSpc>
                  <a:spcPts val="3012"/>
                </a:lnSpc>
                <a:defRPr/>
              </a:pPr>
              <a:endParaRPr/>
            </a:p>
          </p:txBody>
        </p:sp>
      </p:grpSp>
      <p:sp>
        <p:nvSpPr>
          <p:cNvPr id="1111855971" name="TextBox 5"/>
          <p:cNvSpPr txBox="1"/>
          <p:nvPr/>
        </p:nvSpPr>
        <p:spPr bwMode="auto">
          <a:xfrm>
            <a:off x="994658" y="22501"/>
            <a:ext cx="7409262" cy="1382366"/>
          </a:xfrm>
          <a:prstGeom prst="rect">
            <a:avLst/>
          </a:prstGeom>
        </p:spPr>
        <p:txBody>
          <a:bodyPr lIns="0" tIns="0" rIns="0" bIns="0" rtlCol="0" anchor="t">
            <a:spAutoFit/>
          </a:bodyPr>
          <a:lstStyle/>
          <a:p>
            <a:pPr marL="0" lvl="0" indent="0" algn="l">
              <a:lnSpc>
                <a:spcPts val="13050"/>
              </a:lnSpc>
              <a:spcBef>
                <a:spcPts val="0"/>
              </a:spcBef>
              <a:defRPr/>
            </a:pPr>
            <a:r>
              <a:rPr lang="ja-JP" altLang="en-US" sz="4400" b="1" dirty="0">
                <a:solidFill>
                  <a:schemeClr val="accent3">
                    <a:lumMod val="75000"/>
                  </a:schemeClr>
                </a:solidFill>
                <a:latin typeface="+mn-ea"/>
              </a:rPr>
              <a:t>危険期間分析</a:t>
            </a:r>
            <a:endParaRPr sz="4400" b="1" dirty="0">
              <a:solidFill>
                <a:schemeClr val="accent3">
                  <a:lumMod val="75000"/>
                </a:schemeClr>
              </a:solidFill>
              <a:latin typeface="+mn-ea"/>
            </a:endParaRPr>
          </a:p>
        </p:txBody>
      </p:sp>
      <p:grpSp>
        <p:nvGrpSpPr>
          <p:cNvPr id="25930493" name="Group 8"/>
          <p:cNvGrpSpPr/>
          <p:nvPr/>
        </p:nvGrpSpPr>
        <p:grpSpPr bwMode="auto">
          <a:xfrm rot="-5400000">
            <a:off x="1028700" y="9163260"/>
            <a:ext cx="472661" cy="472661"/>
            <a:chOff x="0" y="0"/>
            <a:chExt cx="812800" cy="812800"/>
          </a:xfrm>
        </p:grpSpPr>
        <p:sp>
          <p:nvSpPr>
            <p:cNvPr id="9" name="Freeform 9"/>
            <p:cNvSpPr/>
            <p:nvPr/>
          </p:nvSpPr>
          <p:spPr bwMode="auto">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0" name="TextBox 10"/>
            <p:cNvSpPr txBox="1"/>
            <p:nvPr/>
          </p:nvSpPr>
          <p:spPr bwMode="auto">
            <a:xfrm>
              <a:off x="76200" y="-19050"/>
              <a:ext cx="660400" cy="755650"/>
            </a:xfrm>
            <a:prstGeom prst="rect">
              <a:avLst/>
            </a:prstGeom>
            <a:grpFill/>
          </p:spPr>
          <p:txBody>
            <a:bodyPr lIns="50800" tIns="50800" rIns="50800" bIns="50800" rtlCol="0" anchor="ctr"/>
            <a:lstStyle/>
            <a:p>
              <a:pPr algn="ctr">
                <a:lnSpc>
                  <a:spcPts val="3012"/>
                </a:lnSpc>
                <a:defRPr/>
              </a:pPr>
              <a:endParaRPr/>
            </a:p>
          </p:txBody>
        </p:sp>
      </p:grpSp>
      <p:pic>
        <p:nvPicPr>
          <p:cNvPr id="7" name="図 6" descr="グラフィカル ユーザー インターフェイス, グラフ, 散布図">
            <a:extLst>
              <a:ext uri="{FF2B5EF4-FFF2-40B4-BE49-F238E27FC236}">
                <a16:creationId xmlns:a16="http://schemas.microsoft.com/office/drawing/2014/main" id="{4C3CFF15-5CD6-156E-32F6-9295AA7F11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116" y="1594264"/>
            <a:ext cx="17250407" cy="82736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3706984" name="TextBox 8"/>
          <p:cNvSpPr txBox="1"/>
          <p:nvPr/>
        </p:nvSpPr>
        <p:spPr bwMode="auto">
          <a:xfrm>
            <a:off x="4368877" y="70903"/>
            <a:ext cx="9550237" cy="1485791"/>
          </a:xfrm>
          <a:prstGeom prst="rect">
            <a:avLst/>
          </a:prstGeom>
        </p:spPr>
        <p:txBody>
          <a:bodyPr lIns="0" tIns="0" rIns="0" bIns="0" rtlCol="0" anchor="t">
            <a:spAutoFit/>
          </a:bodyPr>
          <a:lstStyle/>
          <a:p>
            <a:pPr marL="0" lvl="0" indent="0" algn="ctr">
              <a:lnSpc>
                <a:spcPts val="13050"/>
              </a:lnSpc>
              <a:spcBef>
                <a:spcPts val="0"/>
              </a:spcBef>
              <a:defRPr/>
            </a:pPr>
            <a:r>
              <a:rPr lang="ja-JP" altLang="en-US" sz="7200" b="1" dirty="0">
                <a:solidFill>
                  <a:srgbClr val="5F6F52"/>
                </a:solidFill>
                <a:latin typeface="Glacial Indifference Bold"/>
                <a:ea typeface="Glacial Indifference Bold"/>
                <a:cs typeface="Glacial Indifference Bold"/>
              </a:rPr>
              <a:t>対策</a:t>
            </a:r>
            <a:endParaRPr sz="7200" dirty="0"/>
          </a:p>
        </p:txBody>
      </p:sp>
      <p:pic>
        <p:nvPicPr>
          <p:cNvPr id="8" name="図 7" descr="カレンダー が含まれている画像">
            <a:extLst>
              <a:ext uri="{FF2B5EF4-FFF2-40B4-BE49-F238E27FC236}">
                <a16:creationId xmlns:a16="http://schemas.microsoft.com/office/drawing/2014/main" id="{C5019827-2C94-5314-0DAC-2476494CAF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1556694"/>
            <a:ext cx="15237212" cy="831120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32112119" name="Group 2"/>
          <p:cNvGrpSpPr/>
          <p:nvPr/>
        </p:nvGrpSpPr>
        <p:grpSpPr bwMode="auto">
          <a:xfrm>
            <a:off x="792370" y="792370"/>
            <a:ext cx="472661" cy="472661"/>
            <a:chOff x="0" y="0"/>
            <a:chExt cx="812800" cy="812800"/>
          </a:xfrm>
        </p:grpSpPr>
        <p:sp>
          <p:nvSpPr>
            <p:cNvPr id="3" name="Freeform 3"/>
            <p:cNvSpPr/>
            <p:nvPr/>
          </p:nvSpPr>
          <p:spPr bwMode="auto">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bwMode="auto">
            <a:xfrm>
              <a:off x="76200" y="28575"/>
              <a:ext cx="660400" cy="708025"/>
            </a:xfrm>
            <a:prstGeom prst="rect">
              <a:avLst/>
            </a:prstGeom>
            <a:grpFill/>
          </p:spPr>
          <p:txBody>
            <a:bodyPr lIns="50800" tIns="50800" rIns="50800" bIns="50800" rtlCol="0" anchor="ctr"/>
            <a:lstStyle/>
            <a:p>
              <a:pPr algn="ctr">
                <a:lnSpc>
                  <a:spcPts val="3012"/>
                </a:lnSpc>
                <a:defRPr/>
              </a:pPr>
              <a:endParaRPr/>
            </a:p>
          </p:txBody>
        </p:sp>
      </p:grpSp>
      <p:sp>
        <p:nvSpPr>
          <p:cNvPr id="1111401837" name="AutoShape 5"/>
          <p:cNvSpPr/>
          <p:nvPr/>
        </p:nvSpPr>
        <p:spPr bwMode="auto">
          <a:xfrm>
            <a:off x="17364075" y="6915141"/>
            <a:ext cx="0" cy="2610617"/>
          </a:xfrm>
          <a:prstGeom prst="line">
            <a:avLst/>
          </a:prstGeom>
          <a:ln w="123825" cap="flat">
            <a:solidFill>
              <a:srgbClr val="BBC8B1"/>
            </a:solidFill>
            <a:prstDash val="sysDot"/>
            <a:headEnd type="none" w="sm" len="sm"/>
            <a:tailEnd type="none" w="sm" len="sm"/>
          </a:ln>
        </p:spPr>
      </p:sp>
      <p:grpSp>
        <p:nvGrpSpPr>
          <p:cNvPr id="212687118" name="Group 6"/>
          <p:cNvGrpSpPr/>
          <p:nvPr/>
        </p:nvGrpSpPr>
        <p:grpSpPr bwMode="auto">
          <a:xfrm>
            <a:off x="13756206" y="-514350"/>
            <a:ext cx="6163724" cy="3086100"/>
            <a:chOff x="0" y="0"/>
            <a:chExt cx="1623368" cy="812800"/>
          </a:xfrm>
        </p:grpSpPr>
        <p:sp>
          <p:nvSpPr>
            <p:cNvPr id="7" name="Freeform 7"/>
            <p:cNvSpPr/>
            <p:nvPr/>
          </p:nvSpPr>
          <p:spPr bwMode="auto">
            <a:xfrm>
              <a:off x="0" y="0"/>
              <a:ext cx="1623368" cy="812800"/>
            </a:xfrm>
            <a:custGeom>
              <a:avLst/>
              <a:gdLst/>
              <a:ahLst/>
              <a:cxnLst/>
              <a:rect l="l" t="t" r="r" b="b"/>
              <a:pathLst>
                <a:path w="1623368" h="812800" extrusionOk="0">
                  <a:moveTo>
                    <a:pt x="0" y="0"/>
                  </a:moveTo>
                  <a:lnTo>
                    <a:pt x="1623368" y="0"/>
                  </a:lnTo>
                  <a:lnTo>
                    <a:pt x="1623368" y="812800"/>
                  </a:lnTo>
                  <a:lnTo>
                    <a:pt x="0" y="812800"/>
                  </a:lnTo>
                  <a:close/>
                </a:path>
              </a:pathLst>
            </a:custGeom>
            <a:solidFill>
              <a:srgbClr val="EAEBE9"/>
            </a:solidFill>
          </p:spPr>
        </p:sp>
        <p:sp>
          <p:nvSpPr>
            <p:cNvPr id="8" name="TextBox 8"/>
            <p:cNvSpPr txBox="1"/>
            <p:nvPr/>
          </p:nvSpPr>
          <p:spPr bwMode="auto">
            <a:xfrm>
              <a:off x="0" y="-47625"/>
              <a:ext cx="1623368" cy="860425"/>
            </a:xfrm>
            <a:prstGeom prst="rect">
              <a:avLst/>
            </a:prstGeom>
            <a:grpFill/>
          </p:spPr>
          <p:txBody>
            <a:bodyPr lIns="50800" tIns="50800" rIns="50800" bIns="50800" rtlCol="0" anchor="ctr"/>
            <a:lstStyle/>
            <a:p>
              <a:pPr algn="ctr">
                <a:lnSpc>
                  <a:spcPts val="3012"/>
                </a:lnSpc>
                <a:defRPr/>
              </a:pPr>
              <a:endParaRPr/>
            </a:p>
          </p:txBody>
        </p:sp>
      </p:grpSp>
      <p:grpSp>
        <p:nvGrpSpPr>
          <p:cNvPr id="779438378" name="Group 9"/>
          <p:cNvGrpSpPr/>
          <p:nvPr/>
        </p:nvGrpSpPr>
        <p:grpSpPr bwMode="auto">
          <a:xfrm>
            <a:off x="-2582136" y="8362283"/>
            <a:ext cx="7059741" cy="3086100"/>
            <a:chOff x="0" y="0"/>
            <a:chExt cx="1859356" cy="812800"/>
          </a:xfrm>
        </p:grpSpPr>
        <p:sp>
          <p:nvSpPr>
            <p:cNvPr id="10" name="Freeform 10"/>
            <p:cNvSpPr/>
            <p:nvPr/>
          </p:nvSpPr>
          <p:spPr bwMode="auto">
            <a:xfrm>
              <a:off x="0" y="0"/>
              <a:ext cx="1859356" cy="812800"/>
            </a:xfrm>
            <a:custGeom>
              <a:avLst/>
              <a:gdLst/>
              <a:ahLst/>
              <a:cxnLst/>
              <a:rect l="l" t="t" r="r" b="b"/>
              <a:pathLst>
                <a:path w="1859356" h="812800" extrusionOk="0">
                  <a:moveTo>
                    <a:pt x="0" y="0"/>
                  </a:moveTo>
                  <a:lnTo>
                    <a:pt x="1859356" y="0"/>
                  </a:lnTo>
                  <a:lnTo>
                    <a:pt x="1859356" y="812800"/>
                  </a:lnTo>
                  <a:lnTo>
                    <a:pt x="0" y="812800"/>
                  </a:lnTo>
                  <a:close/>
                </a:path>
              </a:pathLst>
            </a:custGeom>
            <a:solidFill>
              <a:srgbClr val="EAEBE9"/>
            </a:solidFill>
          </p:spPr>
        </p:sp>
        <p:sp>
          <p:nvSpPr>
            <p:cNvPr id="11" name="TextBox 11"/>
            <p:cNvSpPr txBox="1"/>
            <p:nvPr/>
          </p:nvSpPr>
          <p:spPr bwMode="auto">
            <a:xfrm>
              <a:off x="0" y="-47625"/>
              <a:ext cx="1859356" cy="860425"/>
            </a:xfrm>
            <a:prstGeom prst="rect">
              <a:avLst/>
            </a:prstGeom>
            <a:grpFill/>
          </p:spPr>
          <p:txBody>
            <a:bodyPr lIns="50800" tIns="50800" rIns="50800" bIns="50800" rtlCol="0" anchor="ctr"/>
            <a:lstStyle/>
            <a:p>
              <a:pPr algn="ctr">
                <a:lnSpc>
                  <a:spcPts val="3012"/>
                </a:lnSpc>
                <a:defRPr/>
              </a:pPr>
              <a:endParaRPr/>
            </a:p>
          </p:txBody>
        </p:sp>
      </p:grpSp>
      <p:sp>
        <p:nvSpPr>
          <p:cNvPr id="1426553115" name="TextBox 13"/>
          <p:cNvSpPr txBox="1"/>
          <p:nvPr/>
        </p:nvSpPr>
        <p:spPr bwMode="auto">
          <a:xfrm>
            <a:off x="12504281" y="8872110"/>
            <a:ext cx="4460189" cy="561629"/>
          </a:xfrm>
          <a:prstGeom prst="rect">
            <a:avLst/>
          </a:prstGeom>
        </p:spPr>
        <p:txBody>
          <a:bodyPr lIns="0" tIns="0" rIns="0" bIns="0" rtlCol="0" anchor="t">
            <a:spAutoFit/>
          </a:bodyPr>
          <a:lstStyle/>
          <a:p>
            <a:pPr marL="0" lvl="0" indent="0" algn="r">
              <a:lnSpc>
                <a:spcPts val="4677"/>
              </a:lnSpc>
              <a:spcBef>
                <a:spcPts val="0"/>
              </a:spcBef>
              <a:defRPr/>
            </a:pPr>
            <a:r>
              <a:rPr lang="vi-VN" sz="3350" dirty="0">
                <a:solidFill>
                  <a:srgbClr val="465739"/>
                </a:solidFill>
                <a:latin typeface="Futura"/>
                <a:ea typeface="Futura"/>
                <a:cs typeface="Futura"/>
              </a:rPr>
              <a:t>26</a:t>
            </a:r>
            <a:r>
              <a:rPr lang="en-US" sz="3350" dirty="0">
                <a:solidFill>
                  <a:srgbClr val="465739"/>
                </a:solidFill>
                <a:latin typeface="Futura"/>
                <a:ea typeface="Futura"/>
                <a:cs typeface="Futura"/>
              </a:rPr>
              <a:t> </a:t>
            </a:r>
            <a:r>
              <a:rPr lang="vi-VN" sz="3350" dirty="0">
                <a:solidFill>
                  <a:srgbClr val="465739"/>
                </a:solidFill>
                <a:latin typeface="Futura"/>
                <a:ea typeface="Futura"/>
                <a:cs typeface="Futura"/>
              </a:rPr>
              <a:t>FEB</a:t>
            </a:r>
            <a:r>
              <a:rPr lang="en-US" sz="3350" dirty="0">
                <a:solidFill>
                  <a:srgbClr val="465739"/>
                </a:solidFill>
                <a:latin typeface="Futura"/>
                <a:ea typeface="Futura"/>
                <a:cs typeface="Futura"/>
              </a:rPr>
              <a:t>, </a:t>
            </a:r>
            <a:r>
              <a:rPr lang="vi-VN" sz="3350" dirty="0">
                <a:solidFill>
                  <a:srgbClr val="465739"/>
                </a:solidFill>
                <a:latin typeface="Futura"/>
                <a:ea typeface="Futura"/>
                <a:cs typeface="Futura"/>
              </a:rPr>
              <a:t>2026</a:t>
            </a:r>
            <a:endParaRPr dirty="0"/>
          </a:p>
        </p:txBody>
      </p:sp>
      <p:sp>
        <p:nvSpPr>
          <p:cNvPr id="207895060" name="TextBox 14"/>
          <p:cNvSpPr txBox="1"/>
          <p:nvPr/>
        </p:nvSpPr>
        <p:spPr bwMode="auto">
          <a:xfrm>
            <a:off x="1771519" y="1990725"/>
            <a:ext cx="14744962" cy="7267575"/>
          </a:xfrm>
          <a:prstGeom prst="rect">
            <a:avLst/>
          </a:prstGeom>
        </p:spPr>
        <p:txBody>
          <a:bodyPr lIns="0" tIns="0" rIns="0" bIns="0" rtlCol="0" anchor="t">
            <a:spAutoFit/>
          </a:bodyPr>
          <a:lstStyle/>
          <a:p>
            <a:pPr marL="0" lvl="0" indent="0" algn="ctr">
              <a:lnSpc>
                <a:spcPts val="28499"/>
              </a:lnSpc>
              <a:defRPr/>
            </a:pPr>
            <a:r>
              <a:rPr lang="en-US" sz="25000" b="1">
                <a:solidFill>
                  <a:srgbClr val="5F6F52"/>
                </a:solidFill>
                <a:latin typeface="Glacial Indifference Bold"/>
                <a:ea typeface="Glacial Indifference Bold"/>
                <a:cs typeface="Glacial Indifference Bold"/>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1">
      <a:majorFont>
        <a:latin typeface="Century Gothic"/>
        <a:ea typeface="BIZ UDPゴシック"/>
        <a:cs typeface="Arial"/>
      </a:majorFont>
      <a:minorFont>
        <a:latin typeface="Calibri"/>
        <a:ea typeface="BIZ UDPゴシック"/>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TotalTime>
  <Words>457</Words>
  <Application>Microsoft Office PowerPoint</Application>
  <PresentationFormat>ユーザー設定</PresentationFormat>
  <Paragraphs>87</Paragraphs>
  <Slides>14</Slides>
  <Notes>14</Notes>
  <HiddenSlides>0</HiddenSlides>
  <MMClips>0</MMClips>
  <ScaleCrop>false</ScaleCrop>
  <HeadingPairs>
    <vt:vector size="6" baseType="variant">
      <vt:variant>
        <vt:lpstr>使用されているフォント</vt:lpstr>
      </vt:variant>
      <vt:variant>
        <vt:i4>13</vt:i4>
      </vt:variant>
      <vt:variant>
        <vt:lpstr>テーマ</vt:lpstr>
      </vt:variant>
      <vt:variant>
        <vt:i4>2</vt:i4>
      </vt:variant>
      <vt:variant>
        <vt:lpstr>スライド タイトル</vt:lpstr>
      </vt:variant>
      <vt:variant>
        <vt:i4>14</vt:i4>
      </vt:variant>
    </vt:vector>
  </HeadingPairs>
  <TitlesOfParts>
    <vt:vector size="29" baseType="lpstr">
      <vt:lpstr>Futura</vt:lpstr>
      <vt:lpstr>Futura Italics</vt:lpstr>
      <vt:lpstr>Glacial Indifference</vt:lpstr>
      <vt:lpstr>BIZ UDゴシック</vt:lpstr>
      <vt:lpstr>Calibri</vt:lpstr>
      <vt:lpstr>BIZ UDPゴシック</vt:lpstr>
      <vt:lpstr>Futura Bold Italics</vt:lpstr>
      <vt:lpstr>Arial</vt:lpstr>
      <vt:lpstr>游ゴシック</vt:lpstr>
      <vt:lpstr>游ゴシック Light</vt:lpstr>
      <vt:lpstr>Noto Sans</vt:lpstr>
      <vt:lpstr>Times New Roman</vt:lpstr>
      <vt:lpstr>Glacial Indifference Bold</vt:lpstr>
      <vt:lpstr>Office Theme</vt:lpstr>
      <vt:lpstr>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熱中症搬送者数予測プロジェックト</dc:title>
  <cp:lastModifiedBy>Tiến Cường Đinh</cp:lastModifiedBy>
  <cp:revision>7</cp:revision>
  <dcterms:created xsi:type="dcterms:W3CDTF">2006-08-16T00:00:00Z</dcterms:created>
  <dcterms:modified xsi:type="dcterms:W3CDTF">2026-02-26T01:40:58Z</dcterms:modified>
  <dc:identifier>DAHCI9We6uk</dc:identifier>
</cp:coreProperties>
</file>